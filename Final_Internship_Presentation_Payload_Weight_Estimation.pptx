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3a9baf877497b" /><Relationship Type="http://schemas.openxmlformats.org/officeDocument/2006/relationships/extended-properties" Target="/docProps/app.xml" Id="R9e05c3d85a0041b0" /><Relationship Type="http://schemas.openxmlformats.org/officeDocument/2006/relationships/officeDocument" Target="/ppt/presentation.xml" Id="Rba458459045e4b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64efc857d84e4f"/>
  </p:sldMasterIdLst>
  <p:notesMasterIdLst>
    <p:notesMasterId xmlns:r="http://schemas.openxmlformats.org/officeDocument/2006/relationships" r:id="R66679611ad1049e9"/>
  </p:notesMasterIdLst>
  <p:sldIdLst>
    <p:sldId xmlns:r="http://schemas.openxmlformats.org/officeDocument/2006/relationships" id="256" r:id="Rf2abc14d25204c4e"/>
    <p:sldId xmlns:r="http://schemas.openxmlformats.org/officeDocument/2006/relationships" id="257" r:id="R8d14dba928504de3"/>
    <p:sldId xmlns:r="http://schemas.openxmlformats.org/officeDocument/2006/relationships" id="258" r:id="Redac96d08e804259"/>
    <p:sldId xmlns:r="http://schemas.openxmlformats.org/officeDocument/2006/relationships" id="259" r:id="R0c938c2a36894dc2"/>
    <p:sldId xmlns:r="http://schemas.openxmlformats.org/officeDocument/2006/relationships" id="260" r:id="R4da95bc773b34403"/>
    <p:sldId xmlns:r="http://schemas.openxmlformats.org/officeDocument/2006/relationships" id="261" r:id="Re19c34b915464a3a"/>
    <p:sldId xmlns:r="http://schemas.openxmlformats.org/officeDocument/2006/relationships" id="262" r:id="Re78467f91b4d4fd5"/>
    <p:sldId xmlns:r="http://schemas.openxmlformats.org/officeDocument/2006/relationships" id="263" r:id="R4c173afbb4154e64"/>
    <p:sldId xmlns:r="http://schemas.openxmlformats.org/officeDocument/2006/relationships" id="264" r:id="R7e933e6d226544ce"/>
    <p:sldId xmlns:r="http://schemas.openxmlformats.org/officeDocument/2006/relationships" id="265" r:id="R4bc51eebeaab4603"/>
    <p:sldId xmlns:r="http://schemas.openxmlformats.org/officeDocument/2006/relationships" id="266" r:id="R21b4f46b8e3d4c02"/>
    <p:sldId xmlns:r="http://schemas.openxmlformats.org/officeDocument/2006/relationships" id="267" r:id="R569b5118fd7a4505"/>
    <p:sldId xmlns:r="http://schemas.openxmlformats.org/officeDocument/2006/relationships" id="268" r:id="R5e06d50337fe4b7b"/>
    <p:sldId xmlns:r="http://schemas.openxmlformats.org/officeDocument/2006/relationships" id="269" r:id="Rc5383eb142694e06"/>
    <p:sldId xmlns:r="http://schemas.openxmlformats.org/officeDocument/2006/relationships" id="270" r:id="Rdf234ad1378d4a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e3b50e4b234754" /><Relationship Type="http://schemas.openxmlformats.org/officeDocument/2006/relationships/slideMaster" Target="/ppt/slideMasters/slideMaster1.xml" Id="R2e64efc857d84e4f" /><Relationship Type="http://schemas.openxmlformats.org/officeDocument/2006/relationships/notesMaster" Target="/ppt/notesMasters/notesMaster1.xml" Id="R66679611ad1049e9" /><Relationship Type="http://schemas.openxmlformats.org/officeDocument/2006/relationships/presProps" Target="/ppt/presProps.xml" Id="Ra990ed31892848a9" /><Relationship Type="http://schemas.openxmlformats.org/officeDocument/2006/relationships/tableStyles" Target="/ppt/tableStyles.xml" Id="R451510c39cc44f24" /><Relationship Type="http://schemas.openxmlformats.org/officeDocument/2006/relationships/slide" Target="/ppt/slides/slide1.xml" Id="Rf2abc14d25204c4e" /><Relationship Type="http://schemas.openxmlformats.org/officeDocument/2006/relationships/slide" Target="/ppt/slides/slide2.xml" Id="R8d14dba928504de3" /><Relationship Type="http://schemas.openxmlformats.org/officeDocument/2006/relationships/slide" Target="/ppt/slides/slide3.xml" Id="Redac96d08e804259" /><Relationship Type="http://schemas.openxmlformats.org/officeDocument/2006/relationships/slide" Target="/ppt/slides/slide4.xml" Id="R0c938c2a36894dc2" /><Relationship Type="http://schemas.openxmlformats.org/officeDocument/2006/relationships/slide" Target="/ppt/slides/slide5.xml" Id="R4da95bc773b34403" /><Relationship Type="http://schemas.openxmlformats.org/officeDocument/2006/relationships/slide" Target="/ppt/slides/slide6.xml" Id="Re19c34b915464a3a" /><Relationship Type="http://schemas.openxmlformats.org/officeDocument/2006/relationships/slide" Target="/ppt/slides/slide7.xml" Id="Re78467f91b4d4fd5" /><Relationship Type="http://schemas.openxmlformats.org/officeDocument/2006/relationships/slide" Target="/ppt/slides/slide8.xml" Id="R4c173afbb4154e64" /><Relationship Type="http://schemas.openxmlformats.org/officeDocument/2006/relationships/slide" Target="/ppt/slides/slide9.xml" Id="R7e933e6d226544ce" /><Relationship Type="http://schemas.openxmlformats.org/officeDocument/2006/relationships/slide" Target="/ppt/slides/slide10.xml" Id="R4bc51eebeaab4603" /><Relationship Type="http://schemas.openxmlformats.org/officeDocument/2006/relationships/slide" Target="/ppt/slides/slide11.xml" Id="R21b4f46b8e3d4c02" /><Relationship Type="http://schemas.openxmlformats.org/officeDocument/2006/relationships/slide" Target="/ppt/slides/slide12.xml" Id="R569b5118fd7a4505" /><Relationship Type="http://schemas.openxmlformats.org/officeDocument/2006/relationships/slide" Target="/ppt/slides/slide13.xml" Id="R5e06d50337fe4b7b" /><Relationship Type="http://schemas.openxmlformats.org/officeDocument/2006/relationships/slide" Target="/ppt/slides/slide14.xml" Id="Rc5383eb142694e06" /><Relationship Type="http://schemas.openxmlformats.org/officeDocument/2006/relationships/slide" Target="/ppt/slides/slide15.xml" Id="Rdf234ad1378d4a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fc7589369842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7900e985148e1" /><Relationship Type="http://schemas.openxmlformats.org/officeDocument/2006/relationships/notesMaster" Target="/ppt/notesMasters/notesMaster1.xml" Id="R673ab67b5e364d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c9e5deeb084162" /><Relationship Type="http://schemas.openxmlformats.org/officeDocument/2006/relationships/notesMaster" Target="/ppt/notesMasters/notesMaster1.xml" Id="R92bf29d6d8234e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805e0c14c54802" /><Relationship Type="http://schemas.openxmlformats.org/officeDocument/2006/relationships/notesMaster" Target="/ppt/notesMasters/notesMaster1.xml" Id="R61fdc9a9c394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29c4cabd0845ef" /><Relationship Type="http://schemas.openxmlformats.org/officeDocument/2006/relationships/notesMaster" Target="/ppt/notesMasters/notesMaster1.xml" Id="Re2d70a6ba72e4d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5fe97dd5904632" /><Relationship Type="http://schemas.openxmlformats.org/officeDocument/2006/relationships/notesMaster" Target="/ppt/notesMasters/notesMaster1.xml" Id="Rf08bf8e85cf84d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76194dcb5492e" /><Relationship Type="http://schemas.openxmlformats.org/officeDocument/2006/relationships/notesMaster" Target="/ppt/notesMasters/notesMaster1.xml" Id="R48e87ae4a49444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6ff2234964476b" /><Relationship Type="http://schemas.openxmlformats.org/officeDocument/2006/relationships/notesMaster" Target="/ppt/notesMasters/notesMaster1.xml" Id="R300e5130159143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0df728051b448f" /><Relationship Type="http://schemas.openxmlformats.org/officeDocument/2006/relationships/notesMaster" Target="/ppt/notesMasters/notesMaster1.xml" Id="R5ae75461f86d47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bc6df40ab54676" /><Relationship Type="http://schemas.openxmlformats.org/officeDocument/2006/relationships/notesMaster" Target="/ppt/notesMasters/notesMaster1.xml" Id="R0fcdf634697e46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925ca6d5b94e3e" /><Relationship Type="http://schemas.openxmlformats.org/officeDocument/2006/relationships/notesMaster" Target="/ppt/notesMasters/notesMaster1.xml" Id="R1d38032e80254f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f814fe7a39477c" /><Relationship Type="http://schemas.openxmlformats.org/officeDocument/2006/relationships/notesMaster" Target="/ppt/notesMasters/notesMaster1.xml" Id="R7189bd9c078241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564bb8f58742ad" /><Relationship Type="http://schemas.openxmlformats.org/officeDocument/2006/relationships/notesMaster" Target="/ppt/notesMasters/notesMaster1.xml" Id="R29660e31230741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ac8893cc7b4783" /><Relationship Type="http://schemas.openxmlformats.org/officeDocument/2006/relationships/notesMaster" Target="/ppt/notesMasters/notesMaster1.xml" Id="R23b3624f613242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57410615d441ba" /><Relationship Type="http://schemas.openxmlformats.org/officeDocument/2006/relationships/notesMaster" Target="/ppt/notesMasters/notesMaster1.xml" Id="Reeea71bc8e864e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c86b63ef6843ef" /><Relationship Type="http://schemas.openxmlformats.org/officeDocument/2006/relationships/notesMaster" Target="/ppt/notesMasters/notesMaster1.xml" Id="R3cabded24da149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the completed payload-estimation work: the final model, the automated test pipeline and what the field data demonstrated.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Power_Consumption_Weight_Measurement.pdf, slide 1 (visual reference)</a:t>
            </a:r>
          </a:p>
          <a:p xmlns:a="http://schemas.openxmlformats.org/drawingml/2006/main">
            <a:r>
              <a:t>- General_Aeronautics_Internship_Log_FINAL.pdf, pages 55–61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the earlier presentation from the final internship outcome. The original deck ended at analytical modelling; the final work added identifiability, automation and field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Power_Consumption_Weight_Measurement.pdf, slides 3–9</a:t>
            </a:r>
          </a:p>
          <a:p xmlns:a="http://schemas.openxmlformats.org/drawingml/2006/main">
            <a:r>
              <a:t>- General_Aeronautics_Internship_Log_FINAL.pdf, pages 55–60</a:t>
            </a:r>
          </a:p>
          <a:p xmlns:a="http://schemas.openxmlformats.org/drawingml/2006/main">
            <a:r>
              <a:t>- Payload Weight Estimation technical report, Sections 5–9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measured electrical power contains both useful induced power and non-ideal losses. Once the losses are removed, the remaining power can be inverted to thrust and then mass.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Payload Weight Estimation technical report, Sections 1 and 3</a:t>
            </a:r>
          </a:p>
          <a:p xmlns:a="http://schemas.openxmlformats.org/drawingml/2006/main">
            <a:r>
              <a:t>- General_Aeronautics_Internship_Log_FINAL.pdf, model-development entries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factor study prevented the final model from becoming an unidentifiable collection of corrections. Only terms supported by sensors, geometry or engineering significance were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Power_Consumption_Weight_Measurement.pdf, slides 2 and 6–9</a:t>
            </a:r>
          </a:p>
          <a:p xmlns:a="http://schemas.openxmlformats.org/drawingml/2006/main">
            <a:r>
              <a:t>- Payload Weight Estimation technical report, Section 2</a:t>
            </a:r>
          </a:p>
          <a:p xmlns:a="http://schemas.openxmlformats.org/drawingml/2006/main">
            <a:r>
              <a:t>- General_Aeronautics_Internship_Log_FINAL.pdf, pages 33–46 and 55–60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implementation in the same order as the code: estimate loss, infer thrust, scale to six rotors and subtract the corrected empty-aircraft mass.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Payload Weight Estimation technical report, Equations 6, 9 and 10</a:t>
            </a:r>
          </a:p>
          <a:p xmlns:a="http://schemas.openxmlformats.org/drawingml/2006/main">
            <a:r>
              <a:t>- General_Aeronautics_Internship_Log_FINAL.pdf, pages 57–60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modelling correction was recognising that RPM and angular speed are deterministically related. Separate linear terms could not be identified, so they were merged before the final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General_Aeronautics_Internship_Log_FINAL.pdf, pages 57–60</a:t>
            </a:r>
          </a:p>
          <a:p xmlns:a="http://schemas.openxmlformats.org/drawingml/2006/main">
            <a:r>
              <a:t>- Payload Weight Estimation technical report, Sections 5.5–5.7</a:t>
            </a:r>
          </a:p>
          <a:p xmlns:a="http://schemas.openxmlformats.org/drawingml/2006/main">
            <a:r>
              <a:t>- Manufacturer X6 Plus power/current/RPM/thrust table supplied in the project files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pipeline as a reproducible batch process. The intermediate aligned CSV is important because it makes the exact rows used by downstream calculations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Payload Weight Estimation technical report, Section 6 and Appendix B</a:t>
            </a:r>
          </a:p>
          <a:p xmlns:a="http://schemas.openxmlformats.org/drawingml/2006/main">
            <a:r>
              <a:t>- General_Aeronautics_Internship_Log_FINAL.pdf, code and test entries on pages 49–60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disarmed period provided the electronics baseline. The 5 m hover kept inference above the final 3.5 m cutoff. The 10 kg flight switched to RTL after roughly one minute and was marked botched.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General_Aeronautics_Internship_Log_FINAL.pdf, pages 55–60</a:t>
            </a:r>
          </a:p>
          <a:p xmlns:a="http://schemas.openxmlformats.org/drawingml/2006/main">
            <a:r>
              <a:t>- Payload Weight Estimation technical report, Sections 6.4–6.6 and 9.1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the two metrics: 6.4635% was the final console aggregation across loaded tests during development; 5.89% is the report's clean 2–8 kg validation MAPE after excluding the known botched flight.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General_Aeronautics_Internship_Log_FINAL.pdf, pages 56–60</a:t>
            </a:r>
          </a:p>
          <a:p xmlns:a="http://schemas.openxmlformats.org/drawingml/2006/main">
            <a:r>
              <a:t>- Payload Weight Estimation technical report, Section 9.2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0 kg result is a diagnostic rather than a percentage-error point. The 10 kg point is shown but marked as botched. The clean validation subset is 2, 4, 6 and 8 kg.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General_Aeronautics_Internship_Log_FINAL.pdf, pages 58–60</a:t>
            </a:r>
          </a:p>
          <a:p xmlns:a="http://schemas.openxmlformats.org/drawingml/2006/main">
            <a:r>
              <a:t>- Payload Weight Estimation technical report, Section 9.2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total-mass metric to explain why the physics estimator can be accurate on supported mass while payload percentage error remains sensitive at low payloads.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Payload Weight Estimation technical report, Sections 9.2 and 9.4</a:t>
            </a:r>
          </a:p>
          <a:p xmlns:a="http://schemas.openxmlformats.org/drawingml/2006/main">
            <a:r>
              <a:t>- General_Aeronautics_Internship_Log_FINAL.pdf, pages 58–60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resolves the earlier concern that the loss estimate was not growing. In the final model, absolute loss rises from 34.6 W to 64.9 W per motor; its percentage remains near 10% because useful induced power rises at the same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General_Aeronautics_Internship_Log_FINAL.pdf, pages 56–60</a:t>
            </a:r>
          </a:p>
          <a:p xmlns:a="http://schemas.openxmlformats.org/drawingml/2006/main">
            <a:r>
              <a:t>- Payload Weight Estimation technical report, Section 9.3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overclaim. The clean mean is close to the 5% target and three trials pass it, but repeat flights and a direct tare measurement are still required before calling the method universally sub-5%.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Payload Weight Estimation technical report, Sections 7.4 and 9.4</a:t>
            </a:r>
          </a:p>
          <a:p xmlns:a="http://schemas.openxmlformats.org/drawingml/2006/main">
            <a:r>
              <a:t>- General_Aeronautics_Internship_Log_FINAL.pdf, pages 58–60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close the work-completed section: modelling, software, validation and documentation were all delivered. The code and testing logs accompany the final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Payload Weight Estimation technical report, Sections 7 and 8</a:t>
            </a:r>
          </a:p>
          <a:p xmlns:a="http://schemas.openxmlformats.org/drawingml/2006/main">
            <a:r>
              <a:t>- General_Aeronautics_Internship_Log_FINAL.pdf, pages 55–61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on the concrete next milestone. The model structure should now stay fixed while measurement quality, repeatability and held-out validation improve.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Payload Weight Estimation technical report, Section 10</a:t>
            </a:r>
          </a:p>
          <a:p xmlns:a="http://schemas.openxmlformats.org/drawingml/2006/main">
            <a:r>
              <a:t>- General_Aeronautics_Internship_Log_FINAL.pdf, pages 60–61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88324e96f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f3cf6742046fa" /><Relationship Type="http://schemas.openxmlformats.org/officeDocument/2006/relationships/slideLayout" Target="/ppt/slideLayouts/slideLayout1.xml" Id="Rad74ab2f401e46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4ab2f401e46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79838b1924883" /><Relationship Type="http://schemas.openxmlformats.org/officeDocument/2006/relationships/image" Target="/ppt/media/image.jpeg" Id="R8742cf0a96874fc1" /><Relationship Type="http://schemas.openxmlformats.org/officeDocument/2006/relationships/notesSlide" Target="/ppt/notesSlides/notesSlide1.xml" Id="R97c821c318ca4b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96df1147a4a6c" /><Relationship Type="http://schemas.openxmlformats.org/officeDocument/2006/relationships/image" Target="/ppt/media/image2.jpeg" Id="R1efeab3115c344df" /><Relationship Type="http://schemas.openxmlformats.org/officeDocument/2006/relationships/notesSlide" Target="/ppt/notesSlides/notesSlide2.xml" Id="R206350c9841648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cbff1e1694d35" /><Relationship Type="http://schemas.openxmlformats.org/officeDocument/2006/relationships/notesSlide" Target="/ppt/notesSlides/notesSlide3.xml" Id="R6654842bc0ae44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6ef18946a475a" /><Relationship Type="http://schemas.openxmlformats.org/officeDocument/2006/relationships/notesSlide" Target="/ppt/notesSlides/notesSlide4.xml" Id="R2580a61491c84b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fac31ded849ad" /><Relationship Type="http://schemas.openxmlformats.org/officeDocument/2006/relationships/notesSlide" Target="/ppt/notesSlides/notesSlide5.xml" Id="R9c3e8a64fb2e49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4e7ad621640a2" /><Relationship Type="http://schemas.openxmlformats.org/officeDocument/2006/relationships/notesSlide" Target="/ppt/notesSlides/notesSlide6.xml" Id="R8ec9a7ae6e8746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fbead72be490c" /><Relationship Type="http://schemas.openxmlformats.org/officeDocument/2006/relationships/notesSlide" Target="/ppt/notesSlides/notesSlide7.xml" Id="R86f8fd07099449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5ef4571fc4f93" /><Relationship Type="http://schemas.openxmlformats.org/officeDocument/2006/relationships/notesSlide" Target="/ppt/notesSlides/notesSlide8.xml" Id="R3d05dbce01bb4c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264ae99d64c46" /><Relationship Type="http://schemas.openxmlformats.org/officeDocument/2006/relationships/notesSlide" Target="/ppt/notesSlides/notesSlide9.xml" Id="R2838243fbfb14a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445343bf748c4" /><Relationship Type="http://schemas.openxmlformats.org/officeDocument/2006/relationships/chart" Target="/ppt/slides/charts/chart1.xml" Id="R5f0040e0a8d74223" /><Relationship Type="http://schemas.openxmlformats.org/officeDocument/2006/relationships/notesSlide" Target="/ppt/notesSlides/notesSlide10.xml" Id="R2993a3277bb348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582e54715429b" /><Relationship Type="http://schemas.openxmlformats.org/officeDocument/2006/relationships/chart" Target="/ppt/slides/charts/chart2.xml" Id="Rb5b4b01e170949f0" /><Relationship Type="http://schemas.openxmlformats.org/officeDocument/2006/relationships/notesSlide" Target="/ppt/notesSlides/notesSlide11.xml" Id="R14b97e281b0443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a5b5712f04745" /><Relationship Type="http://schemas.openxmlformats.org/officeDocument/2006/relationships/chart" Target="/ppt/slides/charts/chart3.xml" Id="R50b57555a38746b3" /><Relationship Type="http://schemas.openxmlformats.org/officeDocument/2006/relationships/notesSlide" Target="/ppt/notesSlides/notesSlide12.xml" Id="R454445e99e444a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56b7b3c4f4b8a" /><Relationship Type="http://schemas.openxmlformats.org/officeDocument/2006/relationships/notesSlide" Target="/ppt/notesSlides/notesSlide13.xml" Id="R2827d45b196545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473da63e2499f" /><Relationship Type="http://schemas.openxmlformats.org/officeDocument/2006/relationships/notesSlide" Target="/ppt/notesSlides/notesSlide14.xml" Id="R4d853b56e7f44a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58bf070ff4f40" /><Relationship Type="http://schemas.openxmlformats.org/officeDocument/2006/relationships/notesSlide" Target="/ppt/notesSlides/notesSlide15.xml" Id="R51a3348f37a44c22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Ideal</c:v>
          </c:tx>
          <c:spPr>
            <a:ln xmlns:a="http://schemas.openxmlformats.org/drawingml/2006/main" w="19050">
              <a:solidFill>
                <a:srgbClr val="667085"/>
              </a:solidFill>
              <a:prstDash val="dash"/>
            </a:ln>
          </c:spPr>
          <c:marker>
            <c:symbol val="none"/>
            <c:size val="2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num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numLit>
          </c:val>
        </c:ser>
        <c:ser>
          <c:idx val="1"/>
          <c:order val="1"/>
          <c:tx>
            <c:v>Estimated</c:v>
          </c:tx>
          <c:spPr>
            <a:ln xmlns:a="http://schemas.openxmlformats.org/drawingml/2006/main" w="28575">
              <a:solidFill>
                <a:srgbClr val="2F66E8"/>
              </a:solidFill>
              <a:prstDash val="solid"/>
            </a:ln>
          </c:spPr>
          <c:marker>
            <c:symbol val="circle"/>
            <c:size val="8"/>
          </c:marker>
          <c:dPt>
            <c:idx val="5"/>
            <c:spPr>
              <a:solidFill xmlns:a="http://schemas.openxmlformats.org/drawingml/2006/main">
                <a:srgbClr val="D89500"/>
              </a:solidFill>
              <a:ln xmlns:a="http://schemas.openxmlformats.org/drawingml/2006/main" w="19050">
                <a:solidFill>
                  <a:srgbClr val="D89500"/>
                </a:solidFill>
                <a:prstDash val="solid"/>
              </a:ln>
            </c:spPr>
          </c:dPt>
          <c:cat>
            <c:numLit>
              <c:formatCode>General</c:formatCode>
              <c:ptCount val="6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numLit>
          </c:cat>
          <c:val>
            <c:numLit>
              <c:formatCode>General</c:formatCode>
              <c:ptCount val="6"/>
              <c:pt idx="0">
                <c:v>-0.9441</c:v>
              </c:pt>
              <c:pt idx="1">
                <c:v>2.0982</c:v>
              </c:pt>
              <c:pt idx="2">
                <c:v>4.5168</c:v>
              </c:pt>
              <c:pt idx="3">
                <c:v>6.2172</c:v>
              </c:pt>
              <c:pt idx="4">
                <c:v>7.8311</c:v>
              </c:pt>
              <c:pt idx="5">
                <c:v>10.7203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 b="1">
                    <a:solidFill>
                      <a:srgbClr val="344054"/>
                    </a:solidFill>
                  </a:rPr>
                  <a:t>Known payload (kg)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344054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"/>
          <c:min val="-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 b="1">
                    <a:solidFill>
                      <a:srgbClr val="344054"/>
                    </a:solidFill>
                  </a:rPr>
                  <a:t>Estimated payload (kg)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344054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DE3ED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Absolute percentage error</c:v>
          </c:tx>
          <c:spPr>
            <a:solidFill xmlns:a="http://schemas.openxmlformats.org/drawingml/2006/main">
              <a:srgbClr val="2F66E8"/>
            </a:solidFill>
          </c:spPr>
          <c:dPt>
            <c:idx val="1"/>
            <c:spPr>
              <a:solidFill xmlns:a="http://schemas.openxmlformats.org/drawingml/2006/main">
                <a:srgbClr val="D89500"/>
              </a:solidFill>
            </c:spPr>
          </c:dPt>
          <c:dPt>
            <c:idx val="4"/>
            <c:spPr>
              <a:solidFill xmlns:a="http://schemas.openxmlformats.org/drawingml/2006/main">
                <a:srgbClr val="D89500"/>
              </a:solidFill>
            </c:spPr>
          </c:dPt>
          <c:cat>
            <c:strLit>
              <c:ptCount val="5"/>
              <c:pt idx="0">
                <c:v>2 kg</c:v>
              </c:pt>
              <c:pt idx="1">
                <c:v>4 kg</c:v>
              </c:pt>
              <c:pt idx="2">
                <c:v>6 kg</c:v>
              </c:pt>
              <c:pt idx="3">
                <c:v>8 kg</c:v>
              </c:pt>
              <c:pt idx="4">
                <c:v>10 kg*</c:v>
              </c:pt>
            </c:strLit>
          </c:cat>
          <c:val>
            <c:numLit>
              <c:formatCode>0.0"%"</c:formatCode>
              <c:ptCount val="5"/>
              <c:pt idx="0">
                <c:v>4.9112</c:v>
              </c:pt>
              <c:pt idx="1">
                <c:v>12.9191</c:v>
              </c:pt>
              <c:pt idx="2">
                <c:v>3.6205</c:v>
              </c:pt>
              <c:pt idx="3">
                <c:v>2.1116</c:v>
              </c:pt>
              <c:pt idx="4">
                <c:v>7.2029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 b="1">
                    <a:solidFill>
                      <a:srgbClr val="344054"/>
                    </a:solidFill>
                  </a:rPr>
                  <a:t>Absolute payload error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344054"/>
                  </a:solidFill>
                </a:defRPr>
              </a:pPr>
            </a:p>
          </c:txPr>
        </c:title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DE3ED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Corrected input power</c:v>
          </c:tx>
          <c:spPr>
            <a:ln xmlns:a="http://schemas.openxmlformats.org/drawingml/2006/main" w="28575">
              <a:solidFill>
                <a:srgbClr val="2F66E8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numLit>
          </c:cat>
          <c:val>
            <c:numLit>
              <c:formatCode>General</c:formatCode>
              <c:ptCount val="6"/>
              <c:pt idx="0">
                <c:v>316.4901</c:v>
              </c:pt>
              <c:pt idx="1">
                <c:v>397.2313</c:v>
              </c:pt>
              <c:pt idx="2">
                <c:v>467.9485</c:v>
              </c:pt>
              <c:pt idx="3">
                <c:v>520.7175</c:v>
              </c:pt>
              <c:pt idx="4">
                <c:v>574.4863</c:v>
              </c:pt>
              <c:pt idx="5">
                <c:v>665.1986</c:v>
              </c:pt>
            </c:numLit>
          </c:val>
        </c:ser>
        <c:ser>
          <c:idx val="1"/>
          <c:order val="1"/>
          <c:tx>
            <c:v>Modelled loss</c:v>
          </c:tx>
          <c:spPr>
            <a:ln xmlns:a="http://schemas.openxmlformats.org/drawingml/2006/main" w="28575">
              <a:solidFill>
                <a:srgbClr val="159A8C"/>
              </a:solidFill>
              <a:prstDash val="solid"/>
            </a:ln>
          </c:spPr>
          <c:marker>
            <c:symbol val="square"/>
            <c:size val="7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</c:numLit>
          </c:cat>
          <c:val>
            <c:numLit>
              <c:formatCode>General</c:formatCode>
              <c:ptCount val="6"/>
              <c:pt idx="0">
                <c:v>34.6037</c:v>
              </c:pt>
              <c:pt idx="1">
                <c:v>40.1027</c:v>
              </c:pt>
              <c:pt idx="2">
                <c:v>46.8277</c:v>
              </c:pt>
              <c:pt idx="3">
                <c:v>52.5986</c:v>
              </c:pt>
              <c:pt idx="4">
                <c:v>60.2426</c:v>
              </c:pt>
              <c:pt idx="5">
                <c:v>64.8769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 b="1">
                    <a:solidFill>
                      <a:srgbClr val="344054"/>
                    </a:solidFill>
                  </a:rPr>
                  <a:t>Known payload (kg)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344054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 b="1">
                    <a:solidFill>
                      <a:srgbClr val="344054"/>
                    </a:solidFill>
                  </a:rPr>
                  <a:t>Per-motor power (W)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344054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DE3ED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2cf0a96874fc1"/>
          <a:srcRect xmlns:a="http://schemas.openxmlformats.org/drawingml/2006/main" l="26074" t="0" r="26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A981D-7F05-4231-9D57-6E81A23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85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99E0B-6B43-4A58-8685-C5971128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F66E8"/>
            </a:solidFill>
            <a:prstDash val="solid"/>
          </a:ln>
        </p:spPr>
      </p:sp>
      <p:sp>
        <p:nvSpPr>
          <p:cNvPr id="4" name="text-86-190">
            <a:extLst xmlns:a="http://schemas.openxmlformats.org/drawingml/2006/main">
              <a:ext uri="{FF2B5EF4-FFF2-40B4-BE49-F238E27FC236}">
                <a16:creationId xmlns:a16="http://schemas.microsoft.com/office/drawing/2014/main" id="{B5A60E60-64D3-48DF-9660-EDA7714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619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Payload Weight</a:t>
            </a:r>
          </a:p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Estimation</a:t>
            </a:r>
          </a:p>
        </p:txBody>
      </p:sp>
      <p:sp>
        <p:nvSpPr>
          <p:cNvPr id="5" name="text-90-354">
            <a:extLst xmlns:a="http://schemas.openxmlformats.org/drawingml/2006/main">
              <a:ext uri="{FF2B5EF4-FFF2-40B4-BE49-F238E27FC236}">
                <a16:creationId xmlns:a16="http://schemas.microsoft.com/office/drawing/2014/main" id="{A9CD5624-84D3-4862-9186-6442F93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Final model, automated inference and field validation</a:t>
            </a:r>
          </a:p>
        </p:txBody>
      </p:sp>
      <p:sp>
        <p:nvSpPr>
          <p:cNvPr id="6" name="text-90-504">
            <a:extLst xmlns:a="http://schemas.openxmlformats.org/drawingml/2006/main">
              <a:ext uri="{FF2B5EF4-FFF2-40B4-BE49-F238E27FC236}">
                <a16:creationId xmlns:a16="http://schemas.microsoft.com/office/drawing/2014/main" id="{C5FDD8B3-1032-4BAE-B29B-4BFF974F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Aryan Verma</a:t>
            </a:r>
          </a:p>
        </p:txBody>
      </p:sp>
      <p:sp>
        <p:nvSpPr>
          <p:cNvPr id="7" name="text-90-542">
            <a:extLst xmlns:a="http://schemas.openxmlformats.org/drawingml/2006/main">
              <a:ext uri="{FF2B5EF4-FFF2-40B4-BE49-F238E27FC236}">
                <a16:creationId xmlns:a16="http://schemas.microsoft.com/office/drawing/2014/main" id="{9EF2BF5F-4093-4182-90AC-99CB57FC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GNC Intern  |  May–July 2026</a:t>
            </a:r>
          </a:p>
        </p:txBody>
      </p:sp>
      <p:sp>
        <p:nvSpPr>
          <p:cNvPr id="8" name="text-90-604">
            <a:extLst xmlns:a="http://schemas.openxmlformats.org/drawingml/2006/main">
              <a:ext uri="{FF2B5EF4-FFF2-40B4-BE49-F238E27FC236}">
                <a16:creationId xmlns:a16="http://schemas.microsoft.com/office/drawing/2014/main" id="{6CE321EA-F6AA-40AA-A5DF-21A0E612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6E8"/>
                </a:solidFill>
              </a:defRPr>
            </a:pPr>
            <a:r>
              <a:rPr sz="1275" b="1">
                <a:solidFill>
                  <a:srgbClr val="2F66E8"/>
                </a:solidFill>
              </a:rPr>
              <a:t>General Aeronautics Pvt. Ltd.</a:t>
            </a:r>
          </a:p>
        </p:txBody>
      </p:sp>
    </p:spTree>
    <p:extLst>
      <p:ext uri="{BB962C8B-B14F-4D97-AF65-F5344CB8AC3E}">
        <p14:creationId xmlns:p14="http://schemas.microsoft.com/office/powerpoint/2010/main" val="679812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E6101507-8CC7-456C-B395-6118A08F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AB5FCFA1-C20F-48F3-8A93-8D14AC38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From parameter-rich concept to tested estimator</a:t>
            </a:r>
          </a:p>
        </p:txBody>
      </p:sp>
      <p:sp>
        <p:nvSpPr>
          <p:cNvPr id="3" name="box-72-166">
            <a:extLst xmlns:a="http://schemas.openxmlformats.org/drawingml/2006/main">
              <a:ext uri="{FF2B5EF4-FFF2-40B4-BE49-F238E27FC236}">
                <a16:creationId xmlns:a16="http://schemas.microsoft.com/office/drawing/2014/main" id="{D28FE23F-3F78-4E13-897B-40ECDF58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eab3115c344df"/>
          <a:srcRect xmlns:a="http://schemas.openxmlformats.org/drawingml/2006/main" l="5375" t="0" r="5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695450"/>
            <a:ext cx="45339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5" name="text-92-496">
            <a:extLst xmlns:a="http://schemas.openxmlformats.org/drawingml/2006/main">
              <a:ext uri="{FF2B5EF4-FFF2-40B4-BE49-F238E27FC236}">
                <a16:creationId xmlns:a16="http://schemas.microsoft.com/office/drawing/2014/main" id="{C62C08ED-B400-41EC-A4E6-5F6CDCC1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500"/>
                </a:solidFill>
              </a:defRPr>
            </a:pPr>
            <a:r>
              <a:rPr sz="975" b="1">
                <a:solidFill>
                  <a:srgbClr val="D89500"/>
                </a:solidFill>
              </a:rPr>
              <a:t>INTERIM REVIEW</a:t>
            </a:r>
          </a:p>
        </p:txBody>
      </p:sp>
      <p:sp>
        <p:nvSpPr>
          <p:cNvPr id="6" name="text-92-526">
            <a:extLst xmlns:a="http://schemas.openxmlformats.org/drawingml/2006/main">
              <a:ext uri="{FF2B5EF4-FFF2-40B4-BE49-F238E27FC236}">
                <a16:creationId xmlns:a16="http://schemas.microsoft.com/office/drawing/2014/main" id="{72B610AB-BE50-42EC-A1A2-A8406383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4054"/>
                </a:solidFill>
              </a:defRPr>
            </a:pPr>
            <a:r>
              <a:rPr sz="1350" b="1">
                <a:solidFill>
                  <a:srgbClr val="344054"/>
                </a:solidFill>
              </a:rPr>
              <a:t>Multiple loss terms, theoretical coefficients and no field-validation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628D6-4AAE-4220-BADC-C94A8757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6096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8" name="box-688-166">
            <a:extLst xmlns:a="http://schemas.openxmlformats.org/drawingml/2006/main">
              <a:ext uri="{FF2B5EF4-FFF2-40B4-BE49-F238E27FC236}">
                <a16:creationId xmlns:a16="http://schemas.microsoft.com/office/drawing/2014/main" id="{9CA6361D-74B2-4FEF-8058-BF359FCC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9" name="text-714-190">
            <a:extLst xmlns:a="http://schemas.openxmlformats.org/drawingml/2006/main">
              <a:ext uri="{FF2B5EF4-FFF2-40B4-BE49-F238E27FC236}">
                <a16:creationId xmlns:a16="http://schemas.microsoft.com/office/drawing/2014/main" id="{55188276-822B-4339-952F-2B1A903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9A8C"/>
                </a:solidFill>
              </a:defRPr>
            </a:pPr>
            <a:r>
              <a:rPr sz="975" b="1">
                <a:solidFill>
                  <a:srgbClr val="159A8C"/>
                </a:solidFill>
              </a:rPr>
              <a:t>FINAL STATE</a:t>
            </a:r>
          </a:p>
        </p:txBody>
      </p:sp>
      <p:sp>
        <p:nvSpPr>
          <p:cNvPr id="10" name="text-714-230">
            <a:extLst xmlns:a="http://schemas.openxmlformats.org/drawingml/2006/main">
              <a:ext uri="{FF2B5EF4-FFF2-40B4-BE49-F238E27FC236}">
                <a16:creationId xmlns:a16="http://schemas.microsoft.com/office/drawing/2014/main" id="{90A41FBE-9209-4E85-811E-FAC546C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Identifiable loss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1E584-0922-423B-9EEB-2ABD813C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2" name="text-734-290">
            <a:extLst xmlns:a="http://schemas.openxmlformats.org/drawingml/2006/main">
              <a:ext uri="{FF2B5EF4-FFF2-40B4-BE49-F238E27FC236}">
                <a16:creationId xmlns:a16="http://schemas.microsoft.com/office/drawing/2014/main" id="{800F09EB-E49B-43A9-BC58-7A820974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Automated BIN-log extraction, alignment and stable-hover 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F810D-1D3C-4700-AC25-5A17F5A9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67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4" name="text-734-356">
            <a:extLst xmlns:a="http://schemas.openxmlformats.org/drawingml/2006/main">
              <a:ext uri="{FF2B5EF4-FFF2-40B4-BE49-F238E27FC236}">
                <a16:creationId xmlns:a16="http://schemas.microsoft.com/office/drawing/2014/main" id="{3E318DA6-9400-4BD3-A904-BF1025BE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Final coefficients refitted with propeller efficiency fixed at 0.718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B324C-A8B3-4BF5-ABEA-DED2BAC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16" name="text-734-422">
            <a:extLst xmlns:a="http://schemas.openxmlformats.org/drawingml/2006/main">
              <a:ext uri="{FF2B5EF4-FFF2-40B4-BE49-F238E27FC236}">
                <a16:creationId xmlns:a16="http://schemas.microsoft.com/office/drawing/2014/main" id="{52D65D3E-04A8-4E1A-A59C-9BB32EB3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95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0–10 kg flight campaign with clean-trial MAPE of 5.89%</a:t>
            </a:r>
          </a:p>
        </p:txBody>
      </p:sp>
      <p:sp>
        <p:nvSpPr>
          <p:cNvPr id="17" name="text-714-518">
            <a:extLst xmlns:a="http://schemas.openxmlformats.org/drawingml/2006/main">
              <a:ext uri="{FF2B5EF4-FFF2-40B4-BE49-F238E27FC236}">
                <a16:creationId xmlns:a16="http://schemas.microsoft.com/office/drawing/2014/main" id="{CBF0980D-5A9C-466E-A76F-6210D1B6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339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The key advance was not another equation—it was an auditable measurement and validation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16E7D-AA4F-44D7-9F56-317D378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19" name="text-72-690">
            <a:extLst xmlns:a="http://schemas.openxmlformats.org/drawingml/2006/main">
              <a:ext uri="{FF2B5EF4-FFF2-40B4-BE49-F238E27FC236}">
                <a16:creationId xmlns:a16="http://schemas.microsoft.com/office/drawing/2014/main" id="{2A8D78C5-5D4C-4247-A058-3EE626C5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20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5AC43D10-088E-4EAD-ADE1-9E0DA46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078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E9B9564B-2D13-457E-981C-0EB2023E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8ECED654-3FC5-484C-BE08-8B06B94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Useful hover power can be inverted to payload</a:t>
            </a:r>
          </a:p>
        </p:txBody>
      </p:sp>
      <p:sp>
        <p:nvSpPr>
          <p:cNvPr id="3" name="text-72-132">
            <a:extLst xmlns:a="http://schemas.openxmlformats.org/drawingml/2006/main">
              <a:ext uri="{FF2B5EF4-FFF2-40B4-BE49-F238E27FC236}">
                <a16:creationId xmlns:a16="http://schemas.microsoft.com/office/drawing/2014/main" id="{8F35A031-DB0D-4C80-BD04-255D18C5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Actuator-disk theory supplies the physical inversion; fitted losses make it applicable to the real powertrain.</a:t>
            </a:r>
          </a:p>
        </p:txBody>
      </p:sp>
      <p:sp>
        <p:nvSpPr>
          <p:cNvPr id="4" name="box-116-198">
            <a:extLst xmlns:a="http://schemas.openxmlformats.org/drawingml/2006/main">
              <a:ext uri="{FF2B5EF4-FFF2-40B4-BE49-F238E27FC236}">
                <a16:creationId xmlns:a16="http://schemas.microsoft.com/office/drawing/2014/main" id="{86DF91DC-18EA-46E6-B16C-2A16260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99822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5" name="text-146-230">
            <a:extLst xmlns:a="http://schemas.openxmlformats.org/drawingml/2006/main">
              <a:ext uri="{FF2B5EF4-FFF2-40B4-BE49-F238E27FC236}">
                <a16:creationId xmlns:a16="http://schemas.microsoft.com/office/drawing/2014/main" id="{0D8A7AA8-B841-4916-9DCD-DDFC281B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941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Pₑ  =  P_loss  +  T³ᐟ² / [ ηₚ √(2ρA_eff)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2B870-EFF7-4309-B7B0-42C45B64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5DDF9-9BD4-44BF-8350-9CA2864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10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17552-A18D-4024-9A6C-FDB242DF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10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F398A-9F6D-4669-B186-CE397C8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100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10" name="box-102-390">
            <a:extLst xmlns:a="http://schemas.openxmlformats.org/drawingml/2006/main">
              <a:ext uri="{FF2B5EF4-FFF2-40B4-BE49-F238E27FC236}">
                <a16:creationId xmlns:a16="http://schemas.microsoft.com/office/drawing/2014/main" id="{5CAE964D-6B29-4A50-A78F-96AF564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1" name="text-114-410">
            <a:extLst xmlns:a="http://schemas.openxmlformats.org/drawingml/2006/main">
              <a:ext uri="{FF2B5EF4-FFF2-40B4-BE49-F238E27FC236}">
                <a16:creationId xmlns:a16="http://schemas.microsoft.com/office/drawing/2014/main" id="{4C38D5BB-EC0B-4084-BFA9-0826D55D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Flight-log inputs</a:t>
            </a:r>
          </a:p>
        </p:txBody>
      </p:sp>
      <p:sp>
        <p:nvSpPr>
          <p:cNvPr id="12" name="text-114-448">
            <a:extLst xmlns:a="http://schemas.openxmlformats.org/drawingml/2006/main">
              <a:ext uri="{FF2B5EF4-FFF2-40B4-BE49-F238E27FC236}">
                <a16:creationId xmlns:a16="http://schemas.microsoft.com/office/drawing/2014/main" id="{989B4AA2-E9F3-493A-AB71-772AA2E3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Voltage • current • PWM • altitude</a:t>
            </a:r>
          </a:p>
        </p:txBody>
      </p:sp>
      <p:sp>
        <p:nvSpPr>
          <p:cNvPr id="13" name="box-340-390">
            <a:extLst xmlns:a="http://schemas.openxmlformats.org/drawingml/2006/main">
              <a:ext uri="{FF2B5EF4-FFF2-40B4-BE49-F238E27FC236}">
                <a16:creationId xmlns:a16="http://schemas.microsoft.com/office/drawing/2014/main" id="{21347F8E-F4B8-40C6-B48E-B7190DB2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4" name="text-352-410">
            <a:extLst xmlns:a="http://schemas.openxmlformats.org/drawingml/2006/main">
              <a:ext uri="{FF2B5EF4-FFF2-40B4-BE49-F238E27FC236}">
                <a16:creationId xmlns:a16="http://schemas.microsoft.com/office/drawing/2014/main" id="{28D933C5-2480-4CA0-996A-0A83E8A2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05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Correct power</a:t>
            </a:r>
          </a:p>
        </p:txBody>
      </p:sp>
      <p:sp>
        <p:nvSpPr>
          <p:cNvPr id="15" name="text-352-448">
            <a:extLst xmlns:a="http://schemas.openxmlformats.org/drawingml/2006/main">
              <a:ext uri="{FF2B5EF4-FFF2-40B4-BE49-F238E27FC236}">
                <a16:creationId xmlns:a16="http://schemas.microsoft.com/office/drawing/2014/main" id="{AD5CF9B0-5EFD-4F95-881E-C36C156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Remove electronics baseline</a:t>
            </a:r>
          </a:p>
        </p:txBody>
      </p:sp>
      <p:sp>
        <p:nvSpPr>
          <p:cNvPr id="16" name="box-578-390">
            <a:extLst xmlns:a="http://schemas.openxmlformats.org/drawingml/2006/main">
              <a:ext uri="{FF2B5EF4-FFF2-40B4-BE49-F238E27FC236}">
                <a16:creationId xmlns:a16="http://schemas.microsoft.com/office/drawing/2014/main" id="{51CDF1A7-EDAA-4C33-9D7D-3BECCAA9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147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7" name="text-590-410">
            <a:extLst xmlns:a="http://schemas.openxmlformats.org/drawingml/2006/main">
              <a:ext uri="{FF2B5EF4-FFF2-40B4-BE49-F238E27FC236}">
                <a16:creationId xmlns:a16="http://schemas.microsoft.com/office/drawing/2014/main" id="{C4E0B03F-BD77-4A5A-A56D-1E7A2910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 losses</a:t>
            </a:r>
          </a:p>
        </p:txBody>
      </p:sp>
      <p:sp>
        <p:nvSpPr>
          <p:cNvPr id="18" name="text-590-448">
            <a:extLst xmlns:a="http://schemas.openxmlformats.org/drawingml/2006/main">
              <a:ext uri="{FF2B5EF4-FFF2-40B4-BE49-F238E27FC236}">
                <a16:creationId xmlns:a16="http://schemas.microsoft.com/office/drawing/2014/main" id="{A109BD15-2435-43FD-B8B3-700657E0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Copper + speed-dependent loss</a:t>
            </a:r>
          </a:p>
        </p:txBody>
      </p:sp>
      <p:sp>
        <p:nvSpPr>
          <p:cNvPr id="19" name="box-816-390">
            <a:extLst xmlns:a="http://schemas.openxmlformats.org/drawingml/2006/main">
              <a:ext uri="{FF2B5EF4-FFF2-40B4-BE49-F238E27FC236}">
                <a16:creationId xmlns:a16="http://schemas.microsoft.com/office/drawing/2014/main" id="{D2CDA9E9-6165-46A3-98E8-21C967C2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0" name="text-828-410">
            <a:extLst xmlns:a="http://schemas.openxmlformats.org/drawingml/2006/main">
              <a:ext uri="{FF2B5EF4-FFF2-40B4-BE49-F238E27FC236}">
                <a16:creationId xmlns:a16="http://schemas.microsoft.com/office/drawing/2014/main" id="{9B77F50C-2260-4515-AFED-DF139B14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Infer thrust</a:t>
            </a:r>
          </a:p>
        </p:txBody>
      </p:sp>
      <p:sp>
        <p:nvSpPr>
          <p:cNvPr id="21" name="text-828-448">
            <a:extLst xmlns:a="http://schemas.openxmlformats.org/drawingml/2006/main">
              <a:ext uri="{FF2B5EF4-FFF2-40B4-BE49-F238E27FC236}">
                <a16:creationId xmlns:a16="http://schemas.microsoft.com/office/drawing/2014/main" id="{E6811921-18A5-44C3-8C3A-36602B10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Invert the power balance</a:t>
            </a:r>
          </a:p>
        </p:txBody>
      </p:sp>
      <p:sp>
        <p:nvSpPr>
          <p:cNvPr id="22" name="box-1054-390">
            <a:extLst xmlns:a="http://schemas.openxmlformats.org/drawingml/2006/main">
              <a:ext uri="{FF2B5EF4-FFF2-40B4-BE49-F238E27FC236}">
                <a16:creationId xmlns:a16="http://schemas.microsoft.com/office/drawing/2014/main" id="{FC7C7FA9-520B-450D-AD70-95B6A952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23" name="text-1066-410">
            <a:extLst xmlns:a="http://schemas.openxmlformats.org/drawingml/2006/main">
              <a:ext uri="{FF2B5EF4-FFF2-40B4-BE49-F238E27FC236}">
                <a16:creationId xmlns:a16="http://schemas.microsoft.com/office/drawing/2014/main" id="{A4CC3914-449C-4A75-8301-CF9B815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05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Infer payload</a:t>
            </a:r>
          </a:p>
        </p:txBody>
      </p:sp>
      <p:sp>
        <p:nvSpPr>
          <p:cNvPr id="24" name="text-1066-448">
            <a:extLst xmlns:a="http://schemas.openxmlformats.org/drawingml/2006/main">
              <a:ext uri="{FF2B5EF4-FFF2-40B4-BE49-F238E27FC236}">
                <a16:creationId xmlns:a16="http://schemas.microsoft.com/office/drawing/2014/main" id="{23CF2163-1D18-42F9-9066-6E1D477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672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Six-rotor mass minus tare</a:t>
            </a:r>
          </a:p>
        </p:txBody>
      </p:sp>
      <p:sp>
        <p:nvSpPr>
          <p:cNvPr id="25" name="text-170-562">
            <a:extLst xmlns:a="http://schemas.openxmlformats.org/drawingml/2006/main">
              <a:ext uri="{FF2B5EF4-FFF2-40B4-BE49-F238E27FC236}">
                <a16:creationId xmlns:a16="http://schemas.microsoft.com/office/drawing/2014/main" id="{43538F19-345F-4F75-A1AC-0BD9AE68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6E8"/>
                </a:solidFill>
              </a:defRPr>
            </a:pPr>
            <a:r>
              <a:rPr sz="1575" b="1">
                <a:solidFill>
                  <a:srgbClr val="2F66E8"/>
                </a:solidFill>
              </a:rPr>
              <a:t>Output: a post-processed payload estimate from existing ArduPilot telemetry—without adding a load cell.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AC180-B8FC-4D07-94EF-5CD73D61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27" name="text-72-690">
            <a:extLst xmlns:a="http://schemas.openxmlformats.org/drawingml/2006/main">
              <a:ext uri="{FF2B5EF4-FFF2-40B4-BE49-F238E27FC236}">
                <a16:creationId xmlns:a16="http://schemas.microsoft.com/office/drawing/2014/main" id="{F58FBF53-8D87-4700-876B-DC5A788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28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A745FB8E-FCDC-44DC-BF34-6D9459E5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4520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694381CC-3ABC-4A2B-A540-C13D5D1E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E3926DD0-48A2-435A-AF2D-76782603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Every real-world factor had a defined treatment</a:t>
            </a:r>
          </a:p>
        </p:txBody>
      </p:sp>
      <p:sp>
        <p:nvSpPr>
          <p:cNvPr id="3" name="box-72-170">
            <a:extLst xmlns:a="http://schemas.openxmlformats.org/drawingml/2006/main">
              <a:ext uri="{FF2B5EF4-FFF2-40B4-BE49-F238E27FC236}">
                <a16:creationId xmlns:a16="http://schemas.microsoft.com/office/drawing/2014/main" id="{F335A574-75CC-4A47-AF41-586AE863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90900" cy="4095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370C9-EB65-4C9A-A3B0-82617C65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66E8"/>
            </a:solidFill>
            <a:prstDash val="solid"/>
          </a:ln>
        </p:spPr>
      </p:sp>
      <p:sp>
        <p:nvSpPr>
          <p:cNvPr id="5" name="text-96-198">
            <a:extLst xmlns:a="http://schemas.openxmlformats.org/drawingml/2006/main">
              <a:ext uri="{FF2B5EF4-FFF2-40B4-BE49-F238E27FC236}">
                <a16:creationId xmlns:a16="http://schemas.microsoft.com/office/drawing/2014/main" id="{BD663881-78A1-40C8-83A3-59262B09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6E8"/>
                </a:solidFill>
              </a:defRPr>
            </a:pPr>
            <a:r>
              <a:rPr sz="1050" b="1">
                <a:solidFill>
                  <a:srgbClr val="2F66E8"/>
                </a:solidFill>
              </a:rPr>
              <a:t>MODELLED EXPLICITLY</a:t>
            </a:r>
          </a:p>
        </p:txBody>
      </p:sp>
      <p:sp>
        <p:nvSpPr>
          <p:cNvPr id="6" name="text-96-244">
            <a:extLst xmlns:a="http://schemas.openxmlformats.org/drawingml/2006/main">
              <a:ext uri="{FF2B5EF4-FFF2-40B4-BE49-F238E27FC236}">
                <a16:creationId xmlns:a16="http://schemas.microsoft.com/office/drawing/2014/main" id="{C7E438C1-34BC-4CD3-81C1-CFBB8A3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Air density</a:t>
            </a:r>
          </a:p>
        </p:txBody>
      </p:sp>
      <p:sp>
        <p:nvSpPr>
          <p:cNvPr id="7" name="text-96-278">
            <a:extLst xmlns:a="http://schemas.openxmlformats.org/drawingml/2006/main">
              <a:ext uri="{FF2B5EF4-FFF2-40B4-BE49-F238E27FC236}">
                <a16:creationId xmlns:a16="http://schemas.microsoft.com/office/drawing/2014/main" id="{7DCBBFF5-D558-409E-9446-5F0B7787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GPS altitude + tropospheric relation</a:t>
            </a:r>
          </a:p>
        </p:txBody>
      </p:sp>
      <p:sp>
        <p:nvSpPr>
          <p:cNvPr id="8" name="text-96-370">
            <a:extLst xmlns:a="http://schemas.openxmlformats.org/drawingml/2006/main">
              <a:ext uri="{FF2B5EF4-FFF2-40B4-BE49-F238E27FC236}">
                <a16:creationId xmlns:a16="http://schemas.microsoft.com/office/drawing/2014/main" id="{3710AA92-F9B7-41E7-8B73-3C2E4B37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Thrust blockage</a:t>
            </a:r>
          </a:p>
        </p:txBody>
      </p:sp>
      <p:sp>
        <p:nvSpPr>
          <p:cNvPr id="9" name="text-96-404">
            <a:extLst xmlns:a="http://schemas.openxmlformats.org/drawingml/2006/main">
              <a:ext uri="{FF2B5EF4-FFF2-40B4-BE49-F238E27FC236}">
                <a16:creationId xmlns:a16="http://schemas.microsoft.com/office/drawing/2014/main" id="{3C9ED92A-970B-4DB9-A0A1-8818D6E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0.0081 m² removed per rotor</a:t>
            </a:r>
          </a:p>
        </p:txBody>
      </p:sp>
      <p:sp>
        <p:nvSpPr>
          <p:cNvPr id="10" name="box-462-170">
            <a:extLst xmlns:a="http://schemas.openxmlformats.org/drawingml/2006/main">
              <a:ext uri="{FF2B5EF4-FFF2-40B4-BE49-F238E27FC236}">
                <a16:creationId xmlns:a16="http://schemas.microsoft.com/office/drawing/2014/main" id="{8CDA2322-29F2-40C7-A2C1-9A99BDDA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19250"/>
            <a:ext cx="3390900" cy="4095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815E5-0805-4EA0-AA4C-ECF527F4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192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59A8C"/>
            </a:solidFill>
            <a:prstDash val="solid"/>
          </a:ln>
        </p:spPr>
      </p:sp>
      <p:sp>
        <p:nvSpPr>
          <p:cNvPr id="12" name="text-486-198">
            <a:extLst xmlns:a="http://schemas.openxmlformats.org/drawingml/2006/main">
              <a:ext uri="{FF2B5EF4-FFF2-40B4-BE49-F238E27FC236}">
                <a16:creationId xmlns:a16="http://schemas.microsoft.com/office/drawing/2014/main" id="{08966EDC-41CD-4997-8165-C8741F70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A8C"/>
                </a:solidFill>
              </a:defRPr>
            </a:pPr>
            <a:r>
              <a:rPr sz="1050" b="1">
                <a:solidFill>
                  <a:srgbClr val="159A8C"/>
                </a:solidFill>
              </a:rPr>
              <a:t>CAPTURED IMPLICITLY</a:t>
            </a:r>
          </a:p>
        </p:txBody>
      </p:sp>
      <p:sp>
        <p:nvSpPr>
          <p:cNvPr id="13" name="text-486-244">
            <a:extLst xmlns:a="http://schemas.openxmlformats.org/drawingml/2006/main">
              <a:ext uri="{FF2B5EF4-FFF2-40B4-BE49-F238E27FC236}">
                <a16:creationId xmlns:a16="http://schemas.microsoft.com/office/drawing/2014/main" id="{68B38334-353A-4E60-B27E-EEF2560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Battery state of charge</a:t>
            </a:r>
          </a:p>
        </p:txBody>
      </p:sp>
      <p:sp>
        <p:nvSpPr>
          <p:cNvPr id="14" name="text-486-278">
            <a:extLst xmlns:a="http://schemas.openxmlformats.org/drawingml/2006/main">
              <a:ext uri="{FF2B5EF4-FFF2-40B4-BE49-F238E27FC236}">
                <a16:creationId xmlns:a16="http://schemas.microsoft.com/office/drawing/2014/main" id="{30E4BB47-C563-492B-85FC-0ECFB54F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Measured voltage × current captures sag</a:t>
            </a:r>
          </a:p>
        </p:txBody>
      </p:sp>
      <p:sp>
        <p:nvSpPr>
          <p:cNvPr id="15" name="text-486-370">
            <a:extLst xmlns:a="http://schemas.openxmlformats.org/drawingml/2006/main">
              <a:ext uri="{FF2B5EF4-FFF2-40B4-BE49-F238E27FC236}">
                <a16:creationId xmlns:a16="http://schemas.microsoft.com/office/drawing/2014/main" id="{5AA0B519-D70C-4407-A5C4-73A5F71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Powertrain condition</a:t>
            </a:r>
          </a:p>
        </p:txBody>
      </p:sp>
      <p:sp>
        <p:nvSpPr>
          <p:cNvPr id="16" name="text-486-404">
            <a:extLst xmlns:a="http://schemas.openxmlformats.org/drawingml/2006/main">
              <a:ext uri="{FF2B5EF4-FFF2-40B4-BE49-F238E27FC236}">
                <a16:creationId xmlns:a16="http://schemas.microsoft.com/office/drawing/2014/main" id="{D2648912-AD0B-4630-A2EA-6BA56B3B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Effective coefficients absorb installed-system behaviour</a:t>
            </a:r>
          </a:p>
        </p:txBody>
      </p:sp>
      <p:sp>
        <p:nvSpPr>
          <p:cNvPr id="17" name="box-852-170">
            <a:extLst xmlns:a="http://schemas.openxmlformats.org/drawingml/2006/main">
              <a:ext uri="{FF2B5EF4-FFF2-40B4-BE49-F238E27FC236}">
                <a16:creationId xmlns:a16="http://schemas.microsoft.com/office/drawing/2014/main" id="{88125E17-F3A1-4CEF-B3AA-9999CA2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390900" cy="40957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941C3-B70E-42D7-9F86-8B96D9A7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39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89500"/>
            </a:solidFill>
            <a:prstDash val="solid"/>
          </a:ln>
        </p:spPr>
      </p:sp>
      <p:sp>
        <p:nvSpPr>
          <p:cNvPr id="19" name="text-876-198">
            <a:extLst xmlns:a="http://schemas.openxmlformats.org/drawingml/2006/main">
              <a:ext uri="{FF2B5EF4-FFF2-40B4-BE49-F238E27FC236}">
                <a16:creationId xmlns:a16="http://schemas.microsoft.com/office/drawing/2014/main" id="{FBBFA6ED-4BAE-4BD2-A6E3-5BDA9D08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500"/>
                </a:solidFill>
              </a:defRPr>
            </a:pPr>
            <a:r>
              <a:rPr sz="1050" b="1">
                <a:solidFill>
                  <a:srgbClr val="D89500"/>
                </a:solidFill>
              </a:rPr>
              <a:t>EXCLUDED / LIMITED</a:t>
            </a:r>
          </a:p>
        </p:txBody>
      </p:sp>
      <p:sp>
        <p:nvSpPr>
          <p:cNvPr id="20" name="text-876-244">
            <a:extLst xmlns:a="http://schemas.openxmlformats.org/drawingml/2006/main">
              <a:ext uri="{FF2B5EF4-FFF2-40B4-BE49-F238E27FC236}">
                <a16:creationId xmlns:a16="http://schemas.microsoft.com/office/drawing/2014/main" id="{55B0EF3D-0E89-4B10-BAD6-1787CCC3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Steady wind</a:t>
            </a:r>
          </a:p>
        </p:txBody>
      </p:sp>
      <p:sp>
        <p:nvSpPr>
          <p:cNvPr id="21" name="text-876-278">
            <a:extLst xmlns:a="http://schemas.openxmlformats.org/drawingml/2006/main">
              <a:ext uri="{FF2B5EF4-FFF2-40B4-BE49-F238E27FC236}">
                <a16:creationId xmlns:a16="http://schemas.microsoft.com/office/drawing/2014/main" id="{50336C6A-F017-4E1D-999B-7BF9164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&lt;0.3% power contribution in defined case</a:t>
            </a:r>
          </a:p>
        </p:txBody>
      </p:sp>
      <p:sp>
        <p:nvSpPr>
          <p:cNvPr id="22" name="text-876-346">
            <a:extLst xmlns:a="http://schemas.openxmlformats.org/drawingml/2006/main">
              <a:ext uri="{FF2B5EF4-FFF2-40B4-BE49-F238E27FC236}">
                <a16:creationId xmlns:a16="http://schemas.microsoft.com/office/drawing/2014/main" id="{E91778F4-84B8-4D33-80BF-E5789F6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Ground effect</a:t>
            </a:r>
          </a:p>
        </p:txBody>
      </p:sp>
      <p:sp>
        <p:nvSpPr>
          <p:cNvPr id="23" name="text-876-380">
            <a:extLst xmlns:a="http://schemas.openxmlformats.org/drawingml/2006/main">
              <a:ext uri="{FF2B5EF4-FFF2-40B4-BE49-F238E27FC236}">
                <a16:creationId xmlns:a16="http://schemas.microsoft.com/office/drawing/2014/main" id="{9A1C95C2-E3FA-4F77-81AD-B5626D79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Filtered by SAlt &gt; 3.5 m</a:t>
            </a:r>
          </a:p>
        </p:txBody>
      </p:sp>
      <p:sp>
        <p:nvSpPr>
          <p:cNvPr id="24" name="text-876-448">
            <a:extLst xmlns:a="http://schemas.openxmlformats.org/drawingml/2006/main">
              <a:ext uri="{FF2B5EF4-FFF2-40B4-BE49-F238E27FC236}">
                <a16:creationId xmlns:a16="http://schemas.microsoft.com/office/drawing/2014/main" id="{8D947B74-04D4-4AA4-BB3A-22380775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Motor temperature</a:t>
            </a:r>
          </a:p>
        </p:txBody>
      </p:sp>
      <p:sp>
        <p:nvSpPr>
          <p:cNvPr id="25" name="text-876-482">
            <a:extLst xmlns:a="http://schemas.openxmlformats.org/drawingml/2006/main">
              <a:ext uri="{FF2B5EF4-FFF2-40B4-BE49-F238E27FC236}">
                <a16:creationId xmlns:a16="http://schemas.microsoft.com/office/drawing/2014/main" id="{7BAFFC67-58DA-457D-A159-164D651A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9105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Documented limitation; no telemetry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0E9010-4D98-43B9-B152-BAD38557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27" name="text-72-690">
            <a:extLst xmlns:a="http://schemas.openxmlformats.org/drawingml/2006/main">
              <a:ext uri="{FF2B5EF4-FFF2-40B4-BE49-F238E27FC236}">
                <a16:creationId xmlns:a16="http://schemas.microsoft.com/office/drawing/2014/main" id="{AB9700F4-0ED0-4F13-A752-4285832A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28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0A96B330-402E-4D99-83F9-C1191BA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1583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90A5E6FC-A879-45FE-80BA-C93AAE2F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05BC3FF0-D93F-4E09-9D10-08229319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final implementation uses three equations</a:t>
            </a:r>
          </a:p>
        </p:txBody>
      </p:sp>
      <p:sp>
        <p:nvSpPr>
          <p:cNvPr id="3" name="text-88-208">
            <a:extLst xmlns:a="http://schemas.openxmlformats.org/drawingml/2006/main">
              <a:ext uri="{FF2B5EF4-FFF2-40B4-BE49-F238E27FC236}">
                <a16:creationId xmlns:a16="http://schemas.microsoft.com/office/drawing/2014/main" id="{D5459278-F470-49D7-A0CF-B2FAF51C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6E8"/>
                </a:solidFill>
              </a:defRPr>
            </a:pPr>
            <a:r>
              <a:rPr sz="1050" b="1">
                <a:solidFill>
                  <a:srgbClr val="2F66E8"/>
                </a:solidFill>
              </a:rPr>
              <a:t>1  LOSS MODEL</a:t>
            </a:r>
          </a:p>
        </p:txBody>
      </p:sp>
      <p:sp>
        <p:nvSpPr>
          <p:cNvPr id="4" name="box-306-178">
            <a:extLst xmlns:a="http://schemas.openxmlformats.org/drawingml/2006/main">
              <a:ext uri="{FF2B5EF4-FFF2-40B4-BE49-F238E27FC236}">
                <a16:creationId xmlns:a16="http://schemas.microsoft.com/office/drawing/2014/main" id="{303ED549-182A-4CD2-8ADB-6D1320BF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95450"/>
            <a:ext cx="8267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5" name="text-330-206">
            <a:extLst xmlns:a="http://schemas.openxmlformats.org/drawingml/2006/main">
              <a:ext uri="{FF2B5EF4-FFF2-40B4-BE49-F238E27FC236}">
                <a16:creationId xmlns:a16="http://schemas.microsoft.com/office/drawing/2014/main" id="{B9377462-D5C0-43F6-B20B-85922509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P_loss = R_copper Iₘ² + k_linear N + kₑ N²</a:t>
            </a:r>
          </a:p>
        </p:txBody>
      </p:sp>
      <p:sp>
        <p:nvSpPr>
          <p:cNvPr id="6" name="text-88-352">
            <a:extLst xmlns:a="http://schemas.openxmlformats.org/drawingml/2006/main">
              <a:ext uri="{FF2B5EF4-FFF2-40B4-BE49-F238E27FC236}">
                <a16:creationId xmlns:a16="http://schemas.microsoft.com/office/drawing/2014/main" id="{AD480F83-831F-4CC0-ABC7-7F26096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35BDF"/>
                </a:solidFill>
              </a:defRPr>
            </a:pPr>
            <a:r>
              <a:rPr sz="1050" b="1">
                <a:solidFill>
                  <a:srgbClr val="635BDF"/>
                </a:solidFill>
              </a:rPr>
              <a:t>2  THRUST INVERSION</a:t>
            </a:r>
          </a:p>
        </p:txBody>
      </p:sp>
      <p:sp>
        <p:nvSpPr>
          <p:cNvPr id="7" name="box-306-322">
            <a:extLst xmlns:a="http://schemas.openxmlformats.org/drawingml/2006/main">
              <a:ext uri="{FF2B5EF4-FFF2-40B4-BE49-F238E27FC236}">
                <a16:creationId xmlns:a16="http://schemas.microsoft.com/office/drawing/2014/main" id="{6798BAFF-D893-4130-AEB0-FB2DD235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8267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8" name="text-330-350">
            <a:extLst xmlns:a="http://schemas.openxmlformats.org/drawingml/2006/main">
              <a:ext uri="{FF2B5EF4-FFF2-40B4-BE49-F238E27FC236}">
                <a16:creationId xmlns:a16="http://schemas.microsoft.com/office/drawing/2014/main" id="{E64098F2-01B4-4DD2-A23E-3F2E4187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 = [ (Pₑ − P_loss) ηₚ √(2ρA_eff) ]²ᐟ³</a:t>
            </a:r>
          </a:p>
        </p:txBody>
      </p:sp>
      <p:sp>
        <p:nvSpPr>
          <p:cNvPr id="9" name="text-88-496">
            <a:extLst xmlns:a="http://schemas.openxmlformats.org/drawingml/2006/main">
              <a:ext uri="{FF2B5EF4-FFF2-40B4-BE49-F238E27FC236}">
                <a16:creationId xmlns:a16="http://schemas.microsoft.com/office/drawing/2014/main" id="{D8A2483B-9AB5-4BA7-8F0E-AB68C3CF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A8C"/>
                </a:solidFill>
              </a:defRPr>
            </a:pPr>
            <a:r>
              <a:rPr sz="1050" b="1">
                <a:solidFill>
                  <a:srgbClr val="159A8C"/>
                </a:solidFill>
              </a:rPr>
              <a:t>3  PAYLOAD MASS</a:t>
            </a:r>
          </a:p>
        </p:txBody>
      </p:sp>
      <p:sp>
        <p:nvSpPr>
          <p:cNvPr id="10" name="box-306-466">
            <a:extLst xmlns:a="http://schemas.openxmlformats.org/drawingml/2006/main">
              <a:ext uri="{FF2B5EF4-FFF2-40B4-BE49-F238E27FC236}">
                <a16:creationId xmlns:a16="http://schemas.microsoft.com/office/drawing/2014/main" id="{E64916AA-69AD-4659-B82A-94A7462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267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1" name="text-330-494">
            <a:extLst xmlns:a="http://schemas.openxmlformats.org/drawingml/2006/main">
              <a:ext uri="{FF2B5EF4-FFF2-40B4-BE49-F238E27FC236}">
                <a16:creationId xmlns:a16="http://schemas.microsoft.com/office/drawing/2014/main" id="{C4545B89-33C4-442F-AED0-E3B4F40F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m_payload = 6T/g − 18.75 kg</a:t>
            </a:r>
          </a:p>
        </p:txBody>
      </p:sp>
      <p:sp>
        <p:nvSpPr>
          <p:cNvPr id="12" name="text-160-608">
            <a:extLst xmlns:a="http://schemas.openxmlformats.org/drawingml/2006/main">
              <a:ext uri="{FF2B5EF4-FFF2-40B4-BE49-F238E27FC236}">
                <a16:creationId xmlns:a16="http://schemas.microsoft.com/office/drawing/2014/main" id="{AB6DA631-53D6-456C-9F57-8711D7BA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N = RPM from manufacturer interpolation   •   A_eff = πr² − 0.0081 m²   •   ηₚ = 0.718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4346D-9B0B-4F80-8222-1DB0F4A3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14" name="text-72-690">
            <a:extLst xmlns:a="http://schemas.openxmlformats.org/drawingml/2006/main">
              <a:ext uri="{FF2B5EF4-FFF2-40B4-BE49-F238E27FC236}">
                <a16:creationId xmlns:a16="http://schemas.microsoft.com/office/drawing/2014/main" id="{2D23D826-3E7E-4A31-A739-735EEF23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15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E1602DB8-5B57-4417-8A81-666A32F4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2706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3734F680-0354-41D9-9238-9E68E3AB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A482320C-BF85-4380-8A32-BB645395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Merging linear-speed terms made the fit identifiable</a:t>
            </a:r>
          </a:p>
        </p:txBody>
      </p:sp>
      <p:sp>
        <p:nvSpPr>
          <p:cNvPr id="3" name="box-72-174">
            <a:extLst xmlns:a="http://schemas.openxmlformats.org/drawingml/2006/main">
              <a:ext uri="{FF2B5EF4-FFF2-40B4-BE49-F238E27FC236}">
                <a16:creationId xmlns:a16="http://schemas.microsoft.com/office/drawing/2014/main" id="{CECA82D4-EBF2-49DF-8B20-2A8AA8ED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0673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4" name="text-96-198">
            <a:extLst xmlns:a="http://schemas.openxmlformats.org/drawingml/2006/main">
              <a:ext uri="{FF2B5EF4-FFF2-40B4-BE49-F238E27FC236}">
                <a16:creationId xmlns:a16="http://schemas.microsoft.com/office/drawing/2014/main" id="{91980081-497E-4E12-A90E-ED05A5D5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500"/>
                </a:solidFill>
              </a:defRPr>
            </a:pPr>
            <a:r>
              <a:rPr sz="1050" b="1">
                <a:solidFill>
                  <a:srgbClr val="D89500"/>
                </a:solidFill>
              </a:rPr>
              <a:t>EARLIER FORM</a:t>
            </a:r>
          </a:p>
        </p:txBody>
      </p:sp>
      <p:sp>
        <p:nvSpPr>
          <p:cNvPr id="5" name="text-96-242">
            <a:extLst xmlns:a="http://schemas.openxmlformats.org/drawingml/2006/main">
              <a:ext uri="{FF2B5EF4-FFF2-40B4-BE49-F238E27FC236}">
                <a16:creationId xmlns:a16="http://schemas.microsoft.com/office/drawing/2014/main" id="{4490309E-4CFE-4A57-BFA1-17911768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… + kₕN + k_bω + kₑN²</a:t>
            </a:r>
          </a:p>
        </p:txBody>
      </p:sp>
      <p:sp>
        <p:nvSpPr>
          <p:cNvPr id="6" name="text-98-306">
            <a:extLst xmlns:a="http://schemas.openxmlformats.org/drawingml/2006/main">
              <a:ext uri="{FF2B5EF4-FFF2-40B4-BE49-F238E27FC236}">
                <a16:creationId xmlns:a16="http://schemas.microsoft.com/office/drawing/2014/main" id="{D5AD15F6-B3DD-421D-84FE-A47AD78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Because ω = 2πN/60, kₕ and k_b occupy the same regression column.</a:t>
            </a:r>
          </a:p>
        </p:txBody>
      </p:sp>
      <p:sp>
        <p:nvSpPr>
          <p:cNvPr id="7" name="box-676-174">
            <a:extLst xmlns:a="http://schemas.openxmlformats.org/drawingml/2006/main">
              <a:ext uri="{FF2B5EF4-FFF2-40B4-BE49-F238E27FC236}">
                <a16:creationId xmlns:a16="http://schemas.microsoft.com/office/drawing/2014/main" id="{C10D6736-D550-4F76-B7A2-9A11C4FA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0673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8" name="text-700-198">
            <a:extLst xmlns:a="http://schemas.openxmlformats.org/drawingml/2006/main">
              <a:ext uri="{FF2B5EF4-FFF2-40B4-BE49-F238E27FC236}">
                <a16:creationId xmlns:a16="http://schemas.microsoft.com/office/drawing/2014/main" id="{290A6284-FF4F-40A3-8AE2-DAB6EE9B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9A8C"/>
                </a:solidFill>
              </a:defRPr>
            </a:pPr>
            <a:r>
              <a:rPr sz="1050" b="1">
                <a:solidFill>
                  <a:srgbClr val="159A8C"/>
                </a:solidFill>
              </a:rPr>
              <a:t>FINAL IDENTIFIABLE FORM</a:t>
            </a:r>
          </a:p>
        </p:txBody>
      </p:sp>
      <p:sp>
        <p:nvSpPr>
          <p:cNvPr id="9" name="text-700-242">
            <a:extLst xmlns:a="http://schemas.openxmlformats.org/drawingml/2006/main">
              <a:ext uri="{FF2B5EF4-FFF2-40B4-BE49-F238E27FC236}">
                <a16:creationId xmlns:a16="http://schemas.microsoft.com/office/drawing/2014/main" id="{D8B672EA-4542-41BA-A4AC-B5ADB41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R Iₘ² + k_linear N + kₑN²</a:t>
            </a:r>
          </a:p>
        </p:txBody>
      </p:sp>
      <p:sp>
        <p:nvSpPr>
          <p:cNvPr id="10" name="text-700-306">
            <a:extLst xmlns:a="http://schemas.openxmlformats.org/drawingml/2006/main">
              <a:ext uri="{FF2B5EF4-FFF2-40B4-BE49-F238E27FC236}">
                <a16:creationId xmlns:a16="http://schemas.microsoft.com/office/drawing/2014/main" id="{9445DD0B-01F0-429C-88ED-AE89F2A5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Propeller efficiency was fixed first, then only the identifiable loss coefficients were fitted.</a:t>
            </a:r>
          </a:p>
        </p:txBody>
      </p:sp>
      <p:sp>
        <p:nvSpPr>
          <p:cNvPr id="11" name="box-72-438">
            <a:extLst xmlns:a="http://schemas.openxmlformats.org/drawingml/2006/main">
              <a:ext uri="{FF2B5EF4-FFF2-40B4-BE49-F238E27FC236}">
                <a16:creationId xmlns:a16="http://schemas.microsoft.com/office/drawing/2014/main" id="{C65CA9B0-9A62-49F9-B847-A98E4C8D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F12A4-F6E9-41D9-A953-F29EDB7A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6E8"/>
            </a:solidFill>
            <a:prstDash val="solid"/>
          </a:ln>
        </p:spPr>
      </p:sp>
      <p:sp>
        <p:nvSpPr>
          <p:cNvPr id="13" name="text-90-460">
            <a:extLst xmlns:a="http://schemas.openxmlformats.org/drawingml/2006/main">
              <a:ext uri="{FF2B5EF4-FFF2-40B4-BE49-F238E27FC236}">
                <a16:creationId xmlns:a16="http://schemas.microsoft.com/office/drawing/2014/main" id="{D285DE7C-7EA8-40DA-95E7-1BE50334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0.09667 Ω</a:t>
            </a:r>
          </a:p>
        </p:txBody>
      </p:sp>
      <p:sp>
        <p:nvSpPr>
          <p:cNvPr id="14" name="text-90-508">
            <a:extLst xmlns:a="http://schemas.openxmlformats.org/drawingml/2006/main">
              <a:ext uri="{FF2B5EF4-FFF2-40B4-BE49-F238E27FC236}">
                <a16:creationId xmlns:a16="http://schemas.microsoft.com/office/drawing/2014/main" id="{A5F3BE13-F34D-4C08-89B4-9DF95F4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R_copper</a:t>
            </a:r>
          </a:p>
        </p:txBody>
      </p:sp>
      <p:sp>
        <p:nvSpPr>
          <p:cNvPr id="15" name="box-344-438">
            <a:extLst xmlns:a="http://schemas.openxmlformats.org/drawingml/2006/main">
              <a:ext uri="{FF2B5EF4-FFF2-40B4-BE49-F238E27FC236}">
                <a16:creationId xmlns:a16="http://schemas.microsoft.com/office/drawing/2014/main" id="{C274E547-9ACD-4363-8D91-06FF67D7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719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DFC59-A7B0-4012-BBED-9EE88FFF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719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635BDF"/>
            </a:solidFill>
            <a:prstDash val="solid"/>
          </a:ln>
        </p:spPr>
      </p:sp>
      <p:sp>
        <p:nvSpPr>
          <p:cNvPr id="17" name="text-362-460">
            <a:extLst xmlns:a="http://schemas.openxmlformats.org/drawingml/2006/main">
              <a:ext uri="{FF2B5EF4-FFF2-40B4-BE49-F238E27FC236}">
                <a16:creationId xmlns:a16="http://schemas.microsoft.com/office/drawing/2014/main" id="{1AF63C64-0932-43C0-904C-6798A0C9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8150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4.322131e−3</a:t>
            </a:r>
          </a:p>
        </p:txBody>
      </p:sp>
      <p:sp>
        <p:nvSpPr>
          <p:cNvPr id="18" name="text-362-508">
            <a:extLst xmlns:a="http://schemas.openxmlformats.org/drawingml/2006/main">
              <a:ext uri="{FF2B5EF4-FFF2-40B4-BE49-F238E27FC236}">
                <a16:creationId xmlns:a16="http://schemas.microsoft.com/office/drawing/2014/main" id="{1BD10665-C91C-4739-A18F-47ADB10A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387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k_linear  (W/RPM)</a:t>
            </a:r>
          </a:p>
        </p:txBody>
      </p:sp>
      <p:sp>
        <p:nvSpPr>
          <p:cNvPr id="19" name="box-616-438">
            <a:extLst xmlns:a="http://schemas.openxmlformats.org/drawingml/2006/main">
              <a:ext uri="{FF2B5EF4-FFF2-40B4-BE49-F238E27FC236}">
                <a16:creationId xmlns:a16="http://schemas.microsoft.com/office/drawing/2014/main" id="{EA2AFC5A-028F-4208-8C8F-12DF9AFD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719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E3801-783E-43AF-9633-4EE34B99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719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6E8"/>
            </a:solidFill>
            <a:prstDash val="solid"/>
          </a:ln>
        </p:spPr>
      </p:sp>
      <p:sp>
        <p:nvSpPr>
          <p:cNvPr id="21" name="text-634-460">
            <a:extLst xmlns:a="http://schemas.openxmlformats.org/drawingml/2006/main">
              <a:ext uri="{FF2B5EF4-FFF2-40B4-BE49-F238E27FC236}">
                <a16:creationId xmlns:a16="http://schemas.microsoft.com/office/drawing/2014/main" id="{076D0FFE-6802-432B-9114-6AB91179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8150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1.603907e−6</a:t>
            </a:r>
          </a:p>
        </p:txBody>
      </p:sp>
      <p:sp>
        <p:nvSpPr>
          <p:cNvPr id="22" name="text-634-508">
            <a:extLst xmlns:a="http://schemas.openxmlformats.org/drawingml/2006/main">
              <a:ext uri="{FF2B5EF4-FFF2-40B4-BE49-F238E27FC236}">
                <a16:creationId xmlns:a16="http://schemas.microsoft.com/office/drawing/2014/main" id="{388CD0BE-34D0-48E8-9392-4BFD73D1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387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kₑ  (W/RPM²)</a:t>
            </a:r>
          </a:p>
        </p:txBody>
      </p:sp>
      <p:sp>
        <p:nvSpPr>
          <p:cNvPr id="23" name="box-888-438">
            <a:extLst xmlns:a="http://schemas.openxmlformats.org/drawingml/2006/main">
              <a:ext uri="{FF2B5EF4-FFF2-40B4-BE49-F238E27FC236}">
                <a16:creationId xmlns:a16="http://schemas.microsoft.com/office/drawing/2014/main" id="{6245CF57-8953-4D48-A844-CE469A1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099DF-6FD6-40C0-8EC1-AC7E4BA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59A8C"/>
            </a:solidFill>
            <a:prstDash val="solid"/>
          </a:ln>
        </p:spPr>
      </p:sp>
      <p:sp>
        <p:nvSpPr>
          <p:cNvPr id="25" name="text-906-460">
            <a:extLst xmlns:a="http://schemas.openxmlformats.org/drawingml/2006/main">
              <a:ext uri="{FF2B5EF4-FFF2-40B4-BE49-F238E27FC236}">
                <a16:creationId xmlns:a16="http://schemas.microsoft.com/office/drawing/2014/main" id="{BF52967A-E693-4EAD-A33B-A1057DA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0.718</a:t>
            </a:r>
          </a:p>
        </p:txBody>
      </p:sp>
      <p:sp>
        <p:nvSpPr>
          <p:cNvPr id="26" name="text-906-508">
            <a:extLst xmlns:a="http://schemas.openxmlformats.org/drawingml/2006/main">
              <a:ext uri="{FF2B5EF4-FFF2-40B4-BE49-F238E27FC236}">
                <a16:creationId xmlns:a16="http://schemas.microsoft.com/office/drawing/2014/main" id="{1D759B5D-7AEB-4833-A834-AEA870DD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ηₚ  fixed</a:t>
            </a:r>
          </a:p>
        </p:txBody>
      </p:sp>
      <p:sp>
        <p:nvSpPr>
          <p:cNvPr id="27" name="text-906-534">
            <a:extLst xmlns:a="http://schemas.openxmlformats.org/drawingml/2006/main">
              <a:ext uri="{FF2B5EF4-FFF2-40B4-BE49-F238E27FC236}">
                <a16:creationId xmlns:a16="http://schemas.microsoft.com/office/drawing/2014/main" id="{E65D244A-3559-47E0-BECE-00C0E6BC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86350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Manufacturer-data-based value</a:t>
            </a:r>
          </a:p>
        </p:txBody>
      </p:sp>
      <p:sp>
        <p:nvSpPr>
          <p:cNvPr id="28" name="text-140-602">
            <a:extLst xmlns:a="http://schemas.openxmlformats.org/drawingml/2006/main">
              <a:ext uri="{FF2B5EF4-FFF2-40B4-BE49-F238E27FC236}">
                <a16:creationId xmlns:a16="http://schemas.microsoft.com/office/drawing/2014/main" id="{1015D933-7911-4C04-BE66-140688AE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</a:defRPr>
            </a:pPr>
            <a:r>
              <a:rPr sz="1275" b="1">
                <a:solidFill>
                  <a:srgbClr val="667085"/>
                </a:solidFill>
              </a:rPr>
              <a:t>Manufacturer curve reconstruction: R² = 0.99979  |  mean absolute residual = 6.06 W  |  max residual = 21.8 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A1D443-86EC-46A7-B8E4-9CD44308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30" name="text-72-690">
            <a:extLst xmlns:a="http://schemas.openxmlformats.org/drawingml/2006/main">
              <a:ext uri="{FF2B5EF4-FFF2-40B4-BE49-F238E27FC236}">
                <a16:creationId xmlns:a16="http://schemas.microsoft.com/office/drawing/2014/main" id="{6154CB62-AEC1-4A48-8BCF-AFD6C70B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31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BE233979-A347-4921-9070-D7F95A93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345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D6687EC5-ACE9-408D-9F2F-87135F90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18C11BB1-F0EF-40CF-AB55-79E2A6AE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Each BIN log becomes one auditable payload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84675-BAF3-493D-AB2F-0479F09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99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D3F4-6334-4677-919E-872E7CF0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99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0BD5C-A21C-4A8F-8179-89FB8914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099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C0661-8652-4D35-9979-597B684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7" name="box-62-250">
            <a:extLst xmlns:a="http://schemas.openxmlformats.org/drawingml/2006/main">
              <a:ext uri="{FF2B5EF4-FFF2-40B4-BE49-F238E27FC236}">
                <a16:creationId xmlns:a16="http://schemas.microsoft.com/office/drawing/2014/main" id="{98367404-BA28-4B21-B087-0B8F4ACD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09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B216C-5CA6-4B7D-81CE-E8729577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9" name="text-78-273">
            <a:extLst xmlns:a="http://schemas.openxmlformats.org/drawingml/2006/main">
              <a:ext uri="{FF2B5EF4-FFF2-40B4-BE49-F238E27FC236}">
                <a16:creationId xmlns:a16="http://schemas.microsoft.com/office/drawing/2014/main" id="{D092A860-6D98-494D-BF6E-DCA221FD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-76-318">
            <a:extLst xmlns:a="http://schemas.openxmlformats.org/drawingml/2006/main">
              <a:ext uri="{FF2B5EF4-FFF2-40B4-BE49-F238E27FC236}">
                <a16:creationId xmlns:a16="http://schemas.microsoft.com/office/drawing/2014/main" id="{4EA23E13-7429-40AA-B5C8-C3CC262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Parse logs</a:t>
            </a:r>
          </a:p>
        </p:txBody>
      </p:sp>
      <p:sp>
        <p:nvSpPr>
          <p:cNvPr id="11" name="text-76-360">
            <a:extLst xmlns:a="http://schemas.openxmlformats.org/drawingml/2006/main">
              <a:ext uri="{FF2B5EF4-FFF2-40B4-BE49-F238E27FC236}">
                <a16:creationId xmlns:a16="http://schemas.microsoft.com/office/drawing/2014/main" id="{AECFA586-8EF4-48DE-A017-7A3948CB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GPS • CTUN • RCOU • BAT</a:t>
            </a:r>
          </a:p>
        </p:txBody>
      </p:sp>
      <p:sp>
        <p:nvSpPr>
          <p:cNvPr id="12" name="box-302-250">
            <a:extLst xmlns:a="http://schemas.openxmlformats.org/drawingml/2006/main">
              <a:ext uri="{FF2B5EF4-FFF2-40B4-BE49-F238E27FC236}">
                <a16:creationId xmlns:a16="http://schemas.microsoft.com/office/drawing/2014/main" id="{05AA3C70-7362-4460-ACA5-D1D90BE2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809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4F46D-0EFB-4366-8AFD-168C76C2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4" name="text-318-273">
            <a:extLst xmlns:a="http://schemas.openxmlformats.org/drawingml/2006/main">
              <a:ext uri="{FF2B5EF4-FFF2-40B4-BE49-F238E27FC236}">
                <a16:creationId xmlns:a16="http://schemas.microsoft.com/office/drawing/2014/main" id="{631AD347-ADCA-42E0-8603-CD02CBD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03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-316-318">
            <a:extLst xmlns:a="http://schemas.openxmlformats.org/drawingml/2006/main">
              <a:ext uri="{FF2B5EF4-FFF2-40B4-BE49-F238E27FC236}">
                <a16:creationId xmlns:a16="http://schemas.microsoft.com/office/drawing/2014/main" id="{4B45F8C9-39C8-4AA6-A573-386E3235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Align streams</a:t>
            </a:r>
          </a:p>
        </p:txBody>
      </p:sp>
      <p:sp>
        <p:nvSpPr>
          <p:cNvPr id="16" name="text-316-360">
            <a:extLst xmlns:a="http://schemas.openxmlformats.org/drawingml/2006/main">
              <a:ext uri="{FF2B5EF4-FFF2-40B4-BE49-F238E27FC236}">
                <a16:creationId xmlns:a16="http://schemas.microsoft.com/office/drawing/2014/main" id="{D2492D09-FE12-45C8-AB50-712E82C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Nearest TimeUS within 60 ms</a:t>
            </a:r>
          </a:p>
        </p:txBody>
      </p:sp>
      <p:sp>
        <p:nvSpPr>
          <p:cNvPr id="17" name="box-542-250">
            <a:extLst xmlns:a="http://schemas.openxmlformats.org/drawingml/2006/main">
              <a:ext uri="{FF2B5EF4-FFF2-40B4-BE49-F238E27FC236}">
                <a16:creationId xmlns:a16="http://schemas.microsoft.com/office/drawing/2014/main" id="{F0A06C70-B8D4-4329-BA00-5D68BEA5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809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8FB4B-D16C-42BC-B36A-B74DC011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9" name="text-558-273">
            <a:extLst xmlns:a="http://schemas.openxmlformats.org/drawingml/2006/main">
              <a:ext uri="{FF2B5EF4-FFF2-40B4-BE49-F238E27FC236}">
                <a16:creationId xmlns:a16="http://schemas.microsoft.com/office/drawing/2014/main" id="{73CF1E66-5B9D-4CD7-A948-1D4DC5D5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03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-556-318">
            <a:extLst xmlns:a="http://schemas.openxmlformats.org/drawingml/2006/main">
              <a:ext uri="{FF2B5EF4-FFF2-40B4-BE49-F238E27FC236}">
                <a16:creationId xmlns:a16="http://schemas.microsoft.com/office/drawing/2014/main" id="{B56B2A54-91CF-4DA4-946E-6FDBD00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Select hover</a:t>
            </a:r>
          </a:p>
        </p:txBody>
      </p:sp>
      <p:sp>
        <p:nvSpPr>
          <p:cNvPr id="21" name="text-556-360">
            <a:extLst xmlns:a="http://schemas.openxmlformats.org/drawingml/2006/main">
              <a:ext uri="{FF2B5EF4-FFF2-40B4-BE49-F238E27FC236}">
                <a16:creationId xmlns:a16="http://schemas.microsoft.com/office/drawing/2014/main" id="{CD4E4AF0-D40F-45B9-8CF0-C79220CB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3.5 m cutoff • 2.5 s window</a:t>
            </a:r>
          </a:p>
        </p:txBody>
      </p:sp>
      <p:sp>
        <p:nvSpPr>
          <p:cNvPr id="22" name="box-782-250">
            <a:extLst xmlns:a="http://schemas.openxmlformats.org/drawingml/2006/main">
              <a:ext uri="{FF2B5EF4-FFF2-40B4-BE49-F238E27FC236}">
                <a16:creationId xmlns:a16="http://schemas.microsoft.com/office/drawing/2014/main" id="{F8676DBD-17A0-465B-BA94-1415FF7D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809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28F40-9A05-42D4-BF69-FFC183FF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24" name="text-798-273">
            <a:extLst xmlns:a="http://schemas.openxmlformats.org/drawingml/2006/main">
              <a:ext uri="{FF2B5EF4-FFF2-40B4-BE49-F238E27FC236}">
                <a16:creationId xmlns:a16="http://schemas.microsoft.com/office/drawing/2014/main" id="{F62E8391-FBB2-4CE4-B247-BD3B63C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03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-796-318">
            <a:extLst xmlns:a="http://schemas.openxmlformats.org/drawingml/2006/main">
              <a:ext uri="{FF2B5EF4-FFF2-40B4-BE49-F238E27FC236}">
                <a16:creationId xmlns:a16="http://schemas.microsoft.com/office/drawing/2014/main" id="{6515D9D0-96E1-44E4-8F46-C7A63013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28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Evaluate model</a:t>
            </a:r>
          </a:p>
        </p:txBody>
      </p:sp>
      <p:sp>
        <p:nvSpPr>
          <p:cNvPr id="26" name="text-796-360">
            <a:extLst xmlns:a="http://schemas.openxmlformats.org/drawingml/2006/main">
              <a:ext uri="{FF2B5EF4-FFF2-40B4-BE49-F238E27FC236}">
                <a16:creationId xmlns:a16="http://schemas.microsoft.com/office/drawing/2014/main" id="{77FDDAD5-0370-42B6-8575-C7DE8B6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ρ • RPM • loss • thrust</a:t>
            </a:r>
          </a:p>
        </p:txBody>
      </p:sp>
      <p:sp>
        <p:nvSpPr>
          <p:cNvPr id="27" name="box-1022-250">
            <a:extLst xmlns:a="http://schemas.openxmlformats.org/drawingml/2006/main">
              <a:ext uri="{FF2B5EF4-FFF2-40B4-BE49-F238E27FC236}">
                <a16:creationId xmlns:a16="http://schemas.microsoft.com/office/drawing/2014/main" id="{14E07D38-D872-4450-873E-B1DEB74F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809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840DB-60AA-4C83-8763-56D6818B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9" name="text-1038-273">
            <a:extLst xmlns:a="http://schemas.openxmlformats.org/drawingml/2006/main">
              <a:ext uri="{FF2B5EF4-FFF2-40B4-BE49-F238E27FC236}">
                <a16:creationId xmlns:a16="http://schemas.microsoft.com/office/drawing/2014/main" id="{6A94654D-85B9-45FA-AEEA-FFB50D46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03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-1036-318">
            <a:extLst xmlns:a="http://schemas.openxmlformats.org/drawingml/2006/main">
              <a:ext uri="{FF2B5EF4-FFF2-40B4-BE49-F238E27FC236}">
                <a16:creationId xmlns:a16="http://schemas.microsoft.com/office/drawing/2014/main" id="{38734F77-4934-4D28-8BED-4557671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289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Report payload</a:t>
            </a:r>
          </a:p>
        </p:txBody>
      </p:sp>
      <p:sp>
        <p:nvSpPr>
          <p:cNvPr id="31" name="text-1036-360">
            <a:extLst xmlns:a="http://schemas.openxmlformats.org/drawingml/2006/main">
              <a:ext uri="{FF2B5EF4-FFF2-40B4-BE49-F238E27FC236}">
                <a16:creationId xmlns:a16="http://schemas.microsoft.com/office/drawing/2014/main" id="{F1D66453-1A1B-4CF8-BE63-5CAEA8D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Estimate • loss • power • error</a:t>
            </a:r>
          </a:p>
        </p:txBody>
      </p:sp>
      <p:sp>
        <p:nvSpPr>
          <p:cNvPr id="32" name="box-160-470">
            <a:extLst xmlns:a="http://schemas.openxmlformats.org/drawingml/2006/main">
              <a:ext uri="{FF2B5EF4-FFF2-40B4-BE49-F238E27FC236}">
                <a16:creationId xmlns:a16="http://schemas.microsoft.com/office/drawing/2014/main" id="{EF6E61FD-552E-4ACA-8EDF-7842C811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33" name="text-188-492">
            <a:extLst xmlns:a="http://schemas.openxmlformats.org/drawingml/2006/main">
              <a:ext uri="{FF2B5EF4-FFF2-40B4-BE49-F238E27FC236}">
                <a16:creationId xmlns:a16="http://schemas.microsoft.com/office/drawing/2014/main" id="{08D0D1B2-AD2C-47E5-9005-4C00442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Robustness built into the run</a:t>
            </a:r>
          </a:p>
        </p:txBody>
      </p:sp>
      <p:sp>
        <p:nvSpPr>
          <p:cNvPr id="34" name="text-188-530">
            <a:extLst xmlns:a="http://schemas.openxmlformats.org/drawingml/2006/main">
              <a:ext uri="{FF2B5EF4-FFF2-40B4-BE49-F238E27FC236}">
                <a16:creationId xmlns:a16="http://schemas.microsoft.com/office/drawing/2014/main" id="{2C56C6E3-25A1-44F4-8619-08C06B9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48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Missing message stream → skip file    •    no aligned samples → drop rows    •    useful power ≤ 0 → reject log    •    aligned CSV retained for 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80D863-9920-4AD2-93E1-EF7AE21A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36" name="text-72-690">
            <a:extLst xmlns:a="http://schemas.openxmlformats.org/drawingml/2006/main">
              <a:ext uri="{FF2B5EF4-FFF2-40B4-BE49-F238E27FC236}">
                <a16:creationId xmlns:a16="http://schemas.microsoft.com/office/drawing/2014/main" id="{99A89921-1ED4-45D8-829D-3CCF8F7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37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F13FFF91-A9CC-4024-BD75-5ACB6776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45829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51666603-4014-4191-82D0-7E4FE89E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EA05A001-D33A-4EFF-A435-47395DC8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Final testing used a repeatable baseline–hover sequence</a:t>
            </a:r>
          </a:p>
        </p:txBody>
      </p:sp>
      <p:sp>
        <p:nvSpPr>
          <p:cNvPr id="3" name="text-72-132">
            <a:extLst xmlns:a="http://schemas.openxmlformats.org/drawingml/2006/main">
              <a:ext uri="{FF2B5EF4-FFF2-40B4-BE49-F238E27FC236}">
                <a16:creationId xmlns:a16="http://schemas.microsoft.com/office/drawing/2014/main" id="{92416341-3584-4AC1-8EA3-95037D78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Six nominal payloads were tested on 30 July 2026: 0, 2, 4, 6, 8 and 10 kg.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F345F-3F9A-44CF-8131-8F6FBC8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AD3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C82A-08F4-45E4-A791-C8BB471F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F6005-7490-4480-B9E9-A64617B1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3BB83-C51D-41FE-BB0C-322BD1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FDB99-8BEC-4639-8362-D535B9B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09243-D775-41D6-86EE-C603D19C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0" name="text-78-248">
            <a:extLst xmlns:a="http://schemas.openxmlformats.org/drawingml/2006/main">
              <a:ext uri="{FF2B5EF4-FFF2-40B4-BE49-F238E27FC236}">
                <a16:creationId xmlns:a16="http://schemas.microsoft.com/office/drawing/2014/main" id="{AF4E02CC-6668-4723-AEA9-5D46AA7A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6E8"/>
                </a:solidFill>
              </a:defRPr>
            </a:pPr>
            <a:r>
              <a:rPr sz="1050" b="1">
                <a:solidFill>
                  <a:srgbClr val="2F66E8"/>
                </a:solidFill>
              </a:rPr>
              <a:t>ARM / START</a:t>
            </a:r>
          </a:p>
        </p:txBody>
      </p:sp>
      <p:sp>
        <p:nvSpPr>
          <p:cNvPr id="11" name="text-252-248">
            <a:extLst xmlns:a="http://schemas.openxmlformats.org/drawingml/2006/main">
              <a:ext uri="{FF2B5EF4-FFF2-40B4-BE49-F238E27FC236}">
                <a16:creationId xmlns:a16="http://schemas.microsoft.com/office/drawing/2014/main" id="{754B7A4E-F015-4A72-8015-66E90123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6E8"/>
                </a:solidFill>
              </a:defRPr>
            </a:pPr>
            <a:r>
              <a:rPr sz="1050" b="1">
                <a:solidFill>
                  <a:srgbClr val="2F66E8"/>
                </a:solidFill>
              </a:rPr>
              <a:t>~30 s DISARMED</a:t>
            </a:r>
          </a:p>
        </p:txBody>
      </p:sp>
      <p:sp>
        <p:nvSpPr>
          <p:cNvPr id="12" name="text-508-248">
            <a:extLst xmlns:a="http://schemas.openxmlformats.org/drawingml/2006/main">
              <a:ext uri="{FF2B5EF4-FFF2-40B4-BE49-F238E27FC236}">
                <a16:creationId xmlns:a16="http://schemas.microsoft.com/office/drawing/2014/main" id="{6D264599-3275-4391-855E-B0418CC5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6E8"/>
                </a:solidFill>
              </a:defRPr>
            </a:pPr>
            <a:r>
              <a:rPr sz="1050" b="1">
                <a:solidFill>
                  <a:srgbClr val="2F66E8"/>
                </a:solidFill>
              </a:rPr>
              <a:t>TAKEOFF</a:t>
            </a:r>
          </a:p>
        </p:txBody>
      </p:sp>
      <p:sp>
        <p:nvSpPr>
          <p:cNvPr id="13" name="text-726-248">
            <a:extLst xmlns:a="http://schemas.openxmlformats.org/drawingml/2006/main">
              <a:ext uri="{FF2B5EF4-FFF2-40B4-BE49-F238E27FC236}">
                <a16:creationId xmlns:a16="http://schemas.microsoft.com/office/drawing/2014/main" id="{B638710E-DA71-4CB8-8662-610E84F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62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9A8C"/>
                </a:solidFill>
              </a:defRPr>
            </a:pPr>
            <a:r>
              <a:rPr sz="1050" b="1">
                <a:solidFill>
                  <a:srgbClr val="159A8C"/>
                </a:solidFill>
              </a:rPr>
              <a:t>~2 min HOVER AT 5 m AGL</a:t>
            </a:r>
          </a:p>
        </p:txBody>
      </p:sp>
      <p:sp>
        <p:nvSpPr>
          <p:cNvPr id="14" name="text-1102-248">
            <a:extLst xmlns:a="http://schemas.openxmlformats.org/drawingml/2006/main">
              <a:ext uri="{FF2B5EF4-FFF2-40B4-BE49-F238E27FC236}">
                <a16:creationId xmlns:a16="http://schemas.microsoft.com/office/drawing/2014/main" id="{C222CBB3-1651-4392-8A35-90CCF98F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622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6E8"/>
                </a:solidFill>
              </a:defRPr>
            </a:pPr>
            <a:r>
              <a:rPr sz="1050" b="1">
                <a:solidFill>
                  <a:srgbClr val="2F66E8"/>
                </a:solidFill>
              </a:rPr>
              <a:t>LAND</a:t>
            </a:r>
          </a:p>
        </p:txBody>
      </p:sp>
      <p:sp>
        <p:nvSpPr>
          <p:cNvPr id="15" name="box-86-380">
            <a:extLst xmlns:a="http://schemas.openxmlformats.org/drawingml/2006/main">
              <a:ext uri="{FF2B5EF4-FFF2-40B4-BE49-F238E27FC236}">
                <a16:creationId xmlns:a16="http://schemas.microsoft.com/office/drawing/2014/main" id="{473097C6-0F64-4FBB-8FB6-76B6FA8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05537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6" name="text-112-404">
            <a:extLst xmlns:a="http://schemas.openxmlformats.org/drawingml/2006/main">
              <a:ext uri="{FF2B5EF4-FFF2-40B4-BE49-F238E27FC236}">
                <a16:creationId xmlns:a16="http://schemas.microsoft.com/office/drawing/2014/main" id="{0CFF08B6-ECF2-45FA-9D2F-AEBA96FD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A row qualified as stable hover only when</a:t>
            </a:r>
          </a:p>
        </p:txBody>
      </p:sp>
      <p:sp>
        <p:nvSpPr>
          <p:cNvPr id="17" name="box-112-446">
            <a:extLst xmlns:a="http://schemas.openxmlformats.org/drawingml/2006/main">
              <a:ext uri="{FF2B5EF4-FFF2-40B4-BE49-F238E27FC236}">
                <a16:creationId xmlns:a16="http://schemas.microsoft.com/office/drawing/2014/main" id="{F1040765-DB6A-45BB-B3A6-6F5CC994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1C420-7C51-485F-B998-6F00930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6E8"/>
            </a:solidFill>
            <a:prstDash val="solid"/>
          </a:ln>
        </p:spPr>
      </p:sp>
      <p:sp>
        <p:nvSpPr>
          <p:cNvPr id="19" name="text-130-468">
            <a:extLst xmlns:a="http://schemas.openxmlformats.org/drawingml/2006/main">
              <a:ext uri="{FF2B5EF4-FFF2-40B4-BE49-F238E27FC236}">
                <a16:creationId xmlns:a16="http://schemas.microsoft.com/office/drawing/2014/main" id="{8ED46032-4F63-427A-8037-82680B26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&gt; 3.5 m</a:t>
            </a:r>
          </a:p>
        </p:txBody>
      </p:sp>
      <p:sp>
        <p:nvSpPr>
          <p:cNvPr id="20" name="text-130-516">
            <a:extLst xmlns:a="http://schemas.openxmlformats.org/drawingml/2006/main">
              <a:ext uri="{FF2B5EF4-FFF2-40B4-BE49-F238E27FC236}">
                <a16:creationId xmlns:a16="http://schemas.microsoft.com/office/drawing/2014/main" id="{57CE67B2-C217-4DD6-83FF-F6481079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SAlt cutoff</a:t>
            </a:r>
          </a:p>
        </p:txBody>
      </p:sp>
      <p:sp>
        <p:nvSpPr>
          <p:cNvPr id="21" name="box-346-446">
            <a:extLst xmlns:a="http://schemas.openxmlformats.org/drawingml/2006/main">
              <a:ext uri="{FF2B5EF4-FFF2-40B4-BE49-F238E27FC236}">
                <a16:creationId xmlns:a16="http://schemas.microsoft.com/office/drawing/2014/main" id="{2E65A0A5-7D00-4C36-A4C4-D7A1C747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48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31113-1524-491A-ADBF-F80C7217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4815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635BDF"/>
            </a:solidFill>
            <a:prstDash val="solid"/>
          </a:ln>
        </p:spPr>
      </p:sp>
      <p:sp>
        <p:nvSpPr>
          <p:cNvPr id="23" name="text-364-468">
            <a:extLst xmlns:a="http://schemas.openxmlformats.org/drawingml/2006/main">
              <a:ext uri="{FF2B5EF4-FFF2-40B4-BE49-F238E27FC236}">
                <a16:creationId xmlns:a16="http://schemas.microsoft.com/office/drawing/2014/main" id="{2A70A0F3-C0BF-4DD7-B80C-D9189F3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2.5 s</a:t>
            </a:r>
          </a:p>
        </p:txBody>
      </p:sp>
      <p:sp>
        <p:nvSpPr>
          <p:cNvPr id="24" name="text-364-516">
            <a:extLst xmlns:a="http://schemas.openxmlformats.org/drawingml/2006/main">
              <a:ext uri="{FF2B5EF4-FFF2-40B4-BE49-F238E27FC236}">
                <a16:creationId xmlns:a16="http://schemas.microsoft.com/office/drawing/2014/main" id="{89CC6BA1-EC22-4163-A011-8AAA4CD5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149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rolling window</a:t>
            </a:r>
          </a:p>
        </p:txBody>
      </p:sp>
      <p:sp>
        <p:nvSpPr>
          <p:cNvPr id="25" name="box-580-446">
            <a:extLst xmlns:a="http://schemas.openxmlformats.org/drawingml/2006/main">
              <a:ext uri="{FF2B5EF4-FFF2-40B4-BE49-F238E27FC236}">
                <a16:creationId xmlns:a16="http://schemas.microsoft.com/office/drawing/2014/main" id="{0D2D25C7-39D7-4A14-9FC7-201C5942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48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195D6-A0AE-4A23-BBB9-AA18C81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4815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6E8"/>
            </a:solidFill>
            <a:prstDash val="solid"/>
          </a:ln>
        </p:spPr>
      </p:sp>
      <p:sp>
        <p:nvSpPr>
          <p:cNvPr id="27" name="text-598-468">
            <a:extLst xmlns:a="http://schemas.openxmlformats.org/drawingml/2006/main">
              <a:ext uri="{FF2B5EF4-FFF2-40B4-BE49-F238E27FC236}">
                <a16:creationId xmlns:a16="http://schemas.microsoft.com/office/drawing/2014/main" id="{9D7DC379-98FD-494E-9449-49D67C82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&lt; P50</a:t>
            </a:r>
          </a:p>
        </p:txBody>
      </p:sp>
      <p:sp>
        <p:nvSpPr>
          <p:cNvPr id="28" name="text-598-516">
            <a:extLst xmlns:a="http://schemas.openxmlformats.org/drawingml/2006/main">
              <a:ext uri="{FF2B5EF4-FFF2-40B4-BE49-F238E27FC236}">
                <a16:creationId xmlns:a16="http://schemas.microsoft.com/office/drawing/2014/main" id="{901C363F-D837-427F-A2CE-DC7953B0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149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rolling SAlt σ</a:t>
            </a:r>
          </a:p>
        </p:txBody>
      </p:sp>
      <p:sp>
        <p:nvSpPr>
          <p:cNvPr id="29" name="text-598-542">
            <a:extLst xmlns:a="http://schemas.openxmlformats.org/drawingml/2006/main">
              <a:ext uri="{FF2B5EF4-FFF2-40B4-BE49-F238E27FC236}">
                <a16:creationId xmlns:a16="http://schemas.microsoft.com/office/drawing/2014/main" id="{0E8EDD34-41FB-4AA5-AD1E-F04CFDE7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625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flight-specific threshold</a:t>
            </a:r>
          </a:p>
        </p:txBody>
      </p:sp>
      <p:sp>
        <p:nvSpPr>
          <p:cNvPr id="30" name="box-814-446">
            <a:extLst xmlns:a="http://schemas.openxmlformats.org/drawingml/2006/main">
              <a:ext uri="{FF2B5EF4-FFF2-40B4-BE49-F238E27FC236}">
                <a16:creationId xmlns:a16="http://schemas.microsoft.com/office/drawing/2014/main" id="{6FBDAB0E-4C1C-4697-B1C9-826CE718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481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253A73-F5FB-4C96-A668-1C36632D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4815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59A8C"/>
            </a:solidFill>
            <a:prstDash val="solid"/>
          </a:ln>
        </p:spPr>
      </p:sp>
      <p:sp>
        <p:nvSpPr>
          <p:cNvPr id="32" name="text-832-468">
            <a:extLst xmlns:a="http://schemas.openxmlformats.org/drawingml/2006/main">
              <a:ext uri="{FF2B5EF4-FFF2-40B4-BE49-F238E27FC236}">
                <a16:creationId xmlns:a16="http://schemas.microsoft.com/office/drawing/2014/main" id="{AB620E60-E4F5-4EA2-AC1E-564D0E02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≥ 20</a:t>
            </a:r>
          </a:p>
        </p:txBody>
      </p:sp>
      <p:sp>
        <p:nvSpPr>
          <p:cNvPr id="33" name="text-832-516">
            <a:extLst xmlns:a="http://schemas.openxmlformats.org/drawingml/2006/main">
              <a:ext uri="{FF2B5EF4-FFF2-40B4-BE49-F238E27FC236}">
                <a16:creationId xmlns:a16="http://schemas.microsoft.com/office/drawing/2014/main" id="{F1F60C5A-EFAC-41CB-AC4C-B5929EBF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149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samples</a:t>
            </a:r>
          </a:p>
        </p:txBody>
      </p:sp>
      <p:sp>
        <p:nvSpPr>
          <p:cNvPr id="34" name="text-1038-458">
            <a:extLst xmlns:a="http://schemas.openxmlformats.org/drawingml/2006/main">
              <a:ext uri="{FF2B5EF4-FFF2-40B4-BE49-F238E27FC236}">
                <a16:creationId xmlns:a16="http://schemas.microsoft.com/office/drawing/2014/main" id="{7556F0D3-C871-44FB-92D6-FBAB097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62450"/>
            <a:ext cx="1257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Representative values = medians of the selected stable-hover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8E6600-7DB1-485B-AABD-9947532A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36" name="text-72-690">
            <a:extLst xmlns:a="http://schemas.openxmlformats.org/drawingml/2006/main">
              <a:ext uri="{FF2B5EF4-FFF2-40B4-BE49-F238E27FC236}">
                <a16:creationId xmlns:a16="http://schemas.microsoft.com/office/drawing/2014/main" id="{C0931EEE-8C4F-4326-A632-261BD05B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37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DA9D2E9C-9157-43C0-926E-9FF5169B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7757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38B64889-9098-407C-9253-3FE62910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FB01AB85-F2D9-4298-8088-9C27976D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Four corrections cut development error by more than half</a:t>
            </a:r>
          </a:p>
        </p:txBody>
      </p:sp>
      <p:sp>
        <p:nvSpPr>
          <p:cNvPr id="3" name="text-72-132">
            <a:extLst xmlns:a="http://schemas.openxmlformats.org/drawingml/2006/main">
              <a:ext uri="{FF2B5EF4-FFF2-40B4-BE49-F238E27FC236}">
                <a16:creationId xmlns:a16="http://schemas.microsoft.com/office/drawing/2014/main" id="{CB096376-38AA-4271-A1B4-A49A21B7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Values below are the sequential console metrics during debugging of the loaded-payload matrix.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A4749-8D78-412B-837C-8E42DA9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861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79D43-6073-425A-8808-17EB61B3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F6464-BF7A-4FBF-B4A5-DAD77C5A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86100"/>
            <a:ext cx="457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3E0"/>
          </a:solidFill>
          <a:ln xmlns:a="http://schemas.openxmlformats.org/drawingml/2006/main" w="0">
            <a:solidFill>
              <a:srgbClr val="CAD3E0"/>
            </a:solidFill>
            <a:prstDash val="solid"/>
          </a:ln>
        </p:spPr>
      </p:sp>
      <p:sp>
        <p:nvSpPr>
          <p:cNvPr id="7" name="box-78-226">
            <a:extLst xmlns:a="http://schemas.openxmlformats.org/drawingml/2006/main">
              <a:ext uri="{FF2B5EF4-FFF2-40B4-BE49-F238E27FC236}">
                <a16:creationId xmlns:a16="http://schemas.microsoft.com/office/drawing/2014/main" id="{06CC7BAE-D996-4638-9ACB-E5352322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47900" cy="23431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8" name="text-96-254">
            <a:extLst xmlns:a="http://schemas.openxmlformats.org/drawingml/2006/main">
              <a:ext uri="{FF2B5EF4-FFF2-40B4-BE49-F238E27FC236}">
                <a16:creationId xmlns:a16="http://schemas.microsoft.com/office/drawing/2014/main" id="{784DB125-91D2-4085-8222-11652076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14.24%</a:t>
            </a:r>
          </a:p>
        </p:txBody>
      </p:sp>
      <p:sp>
        <p:nvSpPr>
          <p:cNvPr id="9" name="text-98-322">
            <a:extLst xmlns:a="http://schemas.openxmlformats.org/drawingml/2006/main">
              <a:ext uri="{FF2B5EF4-FFF2-40B4-BE49-F238E27FC236}">
                <a16:creationId xmlns:a16="http://schemas.microsoft.com/office/drawing/2014/main" id="{875DBEC1-1EF8-42FE-B4E4-E2F2BDB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Initial flight-test algorithm</a:t>
            </a:r>
          </a:p>
        </p:txBody>
      </p:sp>
      <p:sp>
        <p:nvSpPr>
          <p:cNvPr id="10" name="text-98-392">
            <a:extLst xmlns:a="http://schemas.openxmlformats.org/drawingml/2006/main">
              <a:ext uri="{FF2B5EF4-FFF2-40B4-BE49-F238E27FC236}">
                <a16:creationId xmlns:a16="http://schemas.microsoft.com/office/drawing/2014/main" id="{CBE98D46-6EFE-4387-915E-0794D939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Systematic overestimate</a:t>
            </a:r>
          </a:p>
        </p:txBody>
      </p:sp>
      <p:sp>
        <p:nvSpPr>
          <p:cNvPr id="11" name="box-374-226">
            <a:extLst xmlns:a="http://schemas.openxmlformats.org/drawingml/2006/main">
              <a:ext uri="{FF2B5EF4-FFF2-40B4-BE49-F238E27FC236}">
                <a16:creationId xmlns:a16="http://schemas.microsoft.com/office/drawing/2014/main" id="{7A7AB963-0C40-4B77-9D3D-00AAB1B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2247900" cy="23431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2" name="text-392-254">
            <a:extLst xmlns:a="http://schemas.openxmlformats.org/drawingml/2006/main">
              <a:ext uri="{FF2B5EF4-FFF2-40B4-BE49-F238E27FC236}">
                <a16:creationId xmlns:a16="http://schemas.microsoft.com/office/drawing/2014/main" id="{22EF57A5-7A15-4020-B363-459707FB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19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8.72%</a:t>
            </a:r>
          </a:p>
        </p:txBody>
      </p:sp>
      <p:sp>
        <p:nvSpPr>
          <p:cNvPr id="13" name="text-394-322">
            <a:extLst xmlns:a="http://schemas.openxmlformats.org/drawingml/2006/main">
              <a:ext uri="{FF2B5EF4-FFF2-40B4-BE49-F238E27FC236}">
                <a16:creationId xmlns:a16="http://schemas.microsoft.com/office/drawing/2014/main" id="{D9A4419B-5054-4D42-AC68-094498D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67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Tare + coefficient refit</a:t>
            </a:r>
          </a:p>
        </p:txBody>
      </p:sp>
      <p:sp>
        <p:nvSpPr>
          <p:cNvPr id="14" name="text-394-392">
            <a:extLst xmlns:a="http://schemas.openxmlformats.org/drawingml/2006/main">
              <a:ext uri="{FF2B5EF4-FFF2-40B4-BE49-F238E27FC236}">
                <a16:creationId xmlns:a16="http://schemas.microsoft.com/office/drawing/2014/main" id="{55AEDB70-A844-409E-827F-234EBB9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338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18.75 kg and loss growth corrected</a:t>
            </a:r>
          </a:p>
        </p:txBody>
      </p:sp>
      <p:sp>
        <p:nvSpPr>
          <p:cNvPr id="15" name="box-670-226">
            <a:extLst xmlns:a="http://schemas.openxmlformats.org/drawingml/2006/main">
              <a:ext uri="{FF2B5EF4-FFF2-40B4-BE49-F238E27FC236}">
                <a16:creationId xmlns:a16="http://schemas.microsoft.com/office/drawing/2014/main" id="{7E6C49F2-B848-4851-9316-BF441FDE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2247900" cy="23431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6" name="text-688-254">
            <a:extLst xmlns:a="http://schemas.openxmlformats.org/drawingml/2006/main">
              <a:ext uri="{FF2B5EF4-FFF2-40B4-BE49-F238E27FC236}">
                <a16:creationId xmlns:a16="http://schemas.microsoft.com/office/drawing/2014/main" id="{8D935F53-D508-4E55-A5CE-E2F843C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6.58%</a:t>
            </a:r>
          </a:p>
        </p:txBody>
      </p:sp>
      <p:sp>
        <p:nvSpPr>
          <p:cNvPr id="17" name="text-690-322">
            <a:extLst xmlns:a="http://schemas.openxmlformats.org/drawingml/2006/main">
              <a:ext uri="{FF2B5EF4-FFF2-40B4-BE49-F238E27FC236}">
                <a16:creationId xmlns:a16="http://schemas.microsoft.com/office/drawing/2014/main" id="{035CDA6F-8A3B-409B-B4A1-6A74D089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Electronics baseline removed</a:t>
            </a:r>
          </a:p>
        </p:txBody>
      </p:sp>
      <p:sp>
        <p:nvSpPr>
          <p:cNvPr id="18" name="text-690-392">
            <a:extLst xmlns:a="http://schemas.openxmlformats.org/drawingml/2006/main">
              <a:ext uri="{FF2B5EF4-FFF2-40B4-BE49-F238E27FC236}">
                <a16:creationId xmlns:a16="http://schemas.microsoft.com/office/drawing/2014/main" id="{FE5BFBE4-F7E3-4127-8576-C848DE3C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P_hover − P_aux</a:t>
            </a:r>
          </a:p>
        </p:txBody>
      </p:sp>
      <p:sp>
        <p:nvSpPr>
          <p:cNvPr id="19" name="box-966-226">
            <a:extLst xmlns:a="http://schemas.openxmlformats.org/drawingml/2006/main">
              <a:ext uri="{FF2B5EF4-FFF2-40B4-BE49-F238E27FC236}">
                <a16:creationId xmlns:a16="http://schemas.microsoft.com/office/drawing/2014/main" id="{6A6999F0-1C00-4742-BD86-A2C7BFCA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247900" cy="23431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20" name="text-984-254">
            <a:extLst xmlns:a="http://schemas.openxmlformats.org/drawingml/2006/main">
              <a:ext uri="{FF2B5EF4-FFF2-40B4-BE49-F238E27FC236}">
                <a16:creationId xmlns:a16="http://schemas.microsoft.com/office/drawing/2014/main" id="{C293A064-CC55-4BAF-8B05-E4097A62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9A8C"/>
                </a:solidFill>
              </a:defRPr>
            </a:pPr>
            <a:r>
              <a:rPr sz="2850" b="1">
                <a:solidFill>
                  <a:srgbClr val="159A8C"/>
                </a:solidFill>
              </a:rPr>
              <a:t>6.46%</a:t>
            </a:r>
          </a:p>
        </p:txBody>
      </p:sp>
      <p:sp>
        <p:nvSpPr>
          <p:cNvPr id="21" name="text-986-322">
            <a:extLst xmlns:a="http://schemas.openxmlformats.org/drawingml/2006/main">
              <a:ext uri="{FF2B5EF4-FFF2-40B4-BE49-F238E27FC236}">
                <a16:creationId xmlns:a16="http://schemas.microsoft.com/office/drawing/2014/main" id="{0CA75BC0-96C5-40FA-BAA1-47150500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Final identifiable fit</a:t>
            </a:r>
          </a:p>
        </p:txBody>
      </p:sp>
      <p:sp>
        <p:nvSpPr>
          <p:cNvPr id="22" name="text-986-392">
            <a:extLst xmlns:a="http://schemas.openxmlformats.org/drawingml/2006/main">
              <a:ext uri="{FF2B5EF4-FFF2-40B4-BE49-F238E27FC236}">
                <a16:creationId xmlns:a16="http://schemas.microsoft.com/office/drawing/2014/main" id="{4CA30007-2E0D-42A7-BB75-679C27F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3380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kₕ and k_b merged</a:t>
            </a:r>
          </a:p>
        </p:txBody>
      </p:sp>
      <p:sp>
        <p:nvSpPr>
          <p:cNvPr id="23" name="box-258-520">
            <a:extLst xmlns:a="http://schemas.openxmlformats.org/drawingml/2006/main">
              <a:ext uri="{FF2B5EF4-FFF2-40B4-BE49-F238E27FC236}">
                <a16:creationId xmlns:a16="http://schemas.microsoft.com/office/drawing/2014/main" id="{250F5A86-6D78-4F14-BD15-ED09CB4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3181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C1EDB-B431-4DDF-882F-8F04EF5B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53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6E8"/>
            </a:solidFill>
            <a:prstDash val="solid"/>
          </a:ln>
        </p:spPr>
      </p:sp>
      <p:sp>
        <p:nvSpPr>
          <p:cNvPr id="25" name="text-276-542">
            <a:extLst xmlns:a="http://schemas.openxmlformats.org/drawingml/2006/main">
              <a:ext uri="{FF2B5EF4-FFF2-40B4-BE49-F238E27FC236}">
                <a16:creationId xmlns:a16="http://schemas.microsoft.com/office/drawing/2014/main" id="{DF6C5CD2-2356-4418-B857-64DAD7BF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625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54.6%</a:t>
            </a:r>
          </a:p>
        </p:txBody>
      </p:sp>
      <p:sp>
        <p:nvSpPr>
          <p:cNvPr id="26" name="text-276-590">
            <a:extLst xmlns:a="http://schemas.openxmlformats.org/drawingml/2006/main">
              <a:ext uri="{FF2B5EF4-FFF2-40B4-BE49-F238E27FC236}">
                <a16:creationId xmlns:a16="http://schemas.microsoft.com/office/drawing/2014/main" id="{49FD0D0C-48F0-4EC9-8516-C5D5528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197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reduction in development mean error</a:t>
            </a:r>
          </a:p>
        </p:txBody>
      </p:sp>
      <p:sp>
        <p:nvSpPr>
          <p:cNvPr id="27" name="box-688-520">
            <a:extLst xmlns:a="http://schemas.openxmlformats.org/drawingml/2006/main">
              <a:ext uri="{FF2B5EF4-FFF2-40B4-BE49-F238E27FC236}">
                <a16:creationId xmlns:a16="http://schemas.microsoft.com/office/drawing/2014/main" id="{7B5ACCE7-4426-47B3-93F7-93DF0585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3181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6C779-A85C-4B65-AFF9-5FE3790E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59A8C"/>
            </a:solidFill>
            <a:prstDash val="solid"/>
          </a:ln>
        </p:spPr>
      </p:sp>
      <p:sp>
        <p:nvSpPr>
          <p:cNvPr id="29" name="text-706-542">
            <a:extLst xmlns:a="http://schemas.openxmlformats.org/drawingml/2006/main">
              <a:ext uri="{FF2B5EF4-FFF2-40B4-BE49-F238E27FC236}">
                <a16:creationId xmlns:a16="http://schemas.microsoft.com/office/drawing/2014/main" id="{F009BBBA-96A3-4618-BFB4-23D01CE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6255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5.89%</a:t>
            </a:r>
          </a:p>
        </p:txBody>
      </p:sp>
      <p:sp>
        <p:nvSpPr>
          <p:cNvPr id="30" name="text-706-590">
            <a:extLst xmlns:a="http://schemas.openxmlformats.org/drawingml/2006/main">
              <a:ext uri="{FF2B5EF4-FFF2-40B4-BE49-F238E27FC236}">
                <a16:creationId xmlns:a16="http://schemas.microsoft.com/office/drawing/2014/main" id="{4AA5EBB2-12AA-4CF0-8948-4914B86D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197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final clean-trial MAPE (2–8 kg)</a:t>
            </a:r>
          </a:p>
        </p:txBody>
      </p:sp>
      <p:sp>
        <p:nvSpPr>
          <p:cNvPr id="31" name="text-706-616">
            <a:extLst xmlns:a="http://schemas.openxmlformats.org/drawingml/2006/main">
              <a:ext uri="{FF2B5EF4-FFF2-40B4-BE49-F238E27FC236}">
                <a16:creationId xmlns:a16="http://schemas.microsoft.com/office/drawing/2014/main" id="{ED09DDB6-A621-4E93-85B1-3D5B5E8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674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excludes diagnostic 0 kg and botched 10 kg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D897E-6615-477D-B1D8-B7D9F599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33" name="text-72-690">
            <a:extLst xmlns:a="http://schemas.openxmlformats.org/drawingml/2006/main">
              <a:ext uri="{FF2B5EF4-FFF2-40B4-BE49-F238E27FC236}">
                <a16:creationId xmlns:a16="http://schemas.microsoft.com/office/drawing/2014/main" id="{49DC03C0-A57D-43CD-AB82-1F2F3F2F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34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1FE31C81-84A7-4F6A-AD87-1AE732BD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2311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67241D8A-905F-4FAB-9C85-6C88931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5162D1F4-5305-4F1C-83D9-69E22B2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Four clean loaded trials track the ideal payload line closely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42950" y="16192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040e0a8d74223"/>
          </a:graphicData>
        </a:graphic>
      </p:graphicFrame>
      <p:sp>
        <p:nvSpPr>
          <p:cNvPr id="4" name="box-902-190">
            <a:extLst xmlns:a="http://schemas.openxmlformats.org/drawingml/2006/main">
              <a:ext uri="{FF2B5EF4-FFF2-40B4-BE49-F238E27FC236}">
                <a16:creationId xmlns:a16="http://schemas.microsoft.com/office/drawing/2014/main" id="{B6CDF4DD-40BD-4873-87F8-3824774B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DDB97-5B21-49DE-9B5F-A63258B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59A8C"/>
            </a:solidFill>
            <a:prstDash val="solid"/>
          </a:ln>
        </p:spPr>
      </p:sp>
      <p:sp>
        <p:nvSpPr>
          <p:cNvPr id="6" name="text-920-212">
            <a:extLst xmlns:a="http://schemas.openxmlformats.org/drawingml/2006/main">
              <a:ext uri="{FF2B5EF4-FFF2-40B4-BE49-F238E27FC236}">
                <a16:creationId xmlns:a16="http://schemas.microsoft.com/office/drawing/2014/main" id="{AA34BF1C-8FA3-4FEC-9BD3-F8C12CD9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19300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3 of 4</a:t>
            </a:r>
          </a:p>
        </p:txBody>
      </p:sp>
      <p:sp>
        <p:nvSpPr>
          <p:cNvPr id="7" name="text-920-260">
            <a:extLst xmlns:a="http://schemas.openxmlformats.org/drawingml/2006/main">
              <a:ext uri="{FF2B5EF4-FFF2-40B4-BE49-F238E27FC236}">
                <a16:creationId xmlns:a16="http://schemas.microsoft.com/office/drawing/2014/main" id="{FBAF262D-A95C-4A34-8C84-72F3AD36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clean trials below 5% error</a:t>
            </a:r>
          </a:p>
        </p:txBody>
      </p:sp>
      <p:sp>
        <p:nvSpPr>
          <p:cNvPr id="8" name="box-902-338">
            <a:extLst xmlns:a="http://schemas.openxmlformats.org/drawingml/2006/main">
              <a:ext uri="{FF2B5EF4-FFF2-40B4-BE49-F238E27FC236}">
                <a16:creationId xmlns:a16="http://schemas.microsoft.com/office/drawing/2014/main" id="{7F1CFB12-D9BA-462D-8FAA-C90A7EB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67DFF-0C6E-4D57-A0B6-779734FC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6E8"/>
            </a:solidFill>
            <a:prstDash val="solid"/>
          </a:ln>
        </p:spPr>
      </p:sp>
      <p:sp>
        <p:nvSpPr>
          <p:cNvPr id="10" name="text-920-360">
            <a:extLst xmlns:a="http://schemas.openxmlformats.org/drawingml/2006/main">
              <a:ext uri="{FF2B5EF4-FFF2-40B4-BE49-F238E27FC236}">
                <a16:creationId xmlns:a16="http://schemas.microsoft.com/office/drawing/2014/main" id="{89CA6FD3-5307-41F4-98EA-4B7A61AF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324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5.89%</a:t>
            </a:r>
          </a:p>
        </p:txBody>
      </p:sp>
      <p:sp>
        <p:nvSpPr>
          <p:cNvPr id="11" name="text-920-408">
            <a:extLst xmlns:a="http://schemas.openxmlformats.org/drawingml/2006/main">
              <a:ext uri="{FF2B5EF4-FFF2-40B4-BE49-F238E27FC236}">
                <a16:creationId xmlns:a16="http://schemas.microsoft.com/office/drawing/2014/main" id="{B0C12702-24C6-4B96-9D41-204F1514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clean 2–8 kg MAPE</a:t>
            </a:r>
          </a:p>
        </p:txBody>
      </p:sp>
      <p:sp>
        <p:nvSpPr>
          <p:cNvPr id="12" name="box-902-480">
            <a:extLst xmlns:a="http://schemas.openxmlformats.org/drawingml/2006/main">
              <a:ext uri="{FF2B5EF4-FFF2-40B4-BE49-F238E27FC236}">
                <a16:creationId xmlns:a16="http://schemas.microsoft.com/office/drawing/2014/main" id="{309D2D55-DE9E-434D-8356-E4808AC8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2667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9500"/>
            </a:solidFill>
            <a:prstDash val="solid"/>
          </a:ln>
        </p:spPr>
      </p:sp>
      <p:sp>
        <p:nvSpPr>
          <p:cNvPr id="13" name="text-922-498">
            <a:extLst xmlns:a="http://schemas.openxmlformats.org/drawingml/2006/main">
              <a:ext uri="{FF2B5EF4-FFF2-40B4-BE49-F238E27FC236}">
                <a16:creationId xmlns:a16="http://schemas.microsoft.com/office/drawing/2014/main" id="{AC3F29B1-D3D7-44DA-97BC-53AE64D8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43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9500"/>
                </a:solidFill>
              </a:defRPr>
            </a:pPr>
            <a:r>
              <a:rPr sz="1275" b="1">
                <a:solidFill>
                  <a:srgbClr val="D89500"/>
                </a:solidFill>
              </a:rPr>
              <a:t>10 kg test</a:t>
            </a:r>
          </a:p>
        </p:txBody>
      </p:sp>
      <p:sp>
        <p:nvSpPr>
          <p:cNvPr id="14" name="text-922-530">
            <a:extLst xmlns:a="http://schemas.openxmlformats.org/drawingml/2006/main">
              <a:ext uri="{FF2B5EF4-FFF2-40B4-BE49-F238E27FC236}">
                <a16:creationId xmlns:a16="http://schemas.microsoft.com/office/drawing/2014/main" id="{A1680CA0-FE5C-414B-805F-EA6DA936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48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Retained for transparency, but excluded from clean validation because the flight entered RTL.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5C6A0-2A20-4036-9856-EAF7E2A3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16" name="text-72-690">
            <a:extLst xmlns:a="http://schemas.openxmlformats.org/drawingml/2006/main">
              <a:ext uri="{FF2B5EF4-FFF2-40B4-BE49-F238E27FC236}">
                <a16:creationId xmlns:a16="http://schemas.microsoft.com/office/drawing/2014/main" id="{DA178BCE-4FD3-46C7-828E-9C04545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17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5C310B20-15FD-42C7-A89F-F226CD73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6733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55B2F34B-8473-4451-8701-19BD6A0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2E809265-908D-424F-9931-F685355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One 4 kg outlier dominates the clean-trial payload MAPE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42950" y="16573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b4b01e170949f0"/>
          </a:graphicData>
        </a:graphic>
      </p:graphicFrame>
      <p:sp>
        <p:nvSpPr>
          <p:cNvPr id="4" name="box-884-188">
            <a:extLst xmlns:a="http://schemas.openxmlformats.org/drawingml/2006/main">
              <a:ext uri="{FF2B5EF4-FFF2-40B4-BE49-F238E27FC236}">
                <a16:creationId xmlns:a16="http://schemas.microsoft.com/office/drawing/2014/main" id="{BF82CD68-1589-45F4-B92F-19BD647D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2838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781A-105D-4278-890E-15360D9D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59A8C"/>
            </a:solidFill>
            <a:prstDash val="solid"/>
          </a:ln>
        </p:spPr>
      </p:sp>
      <p:sp>
        <p:nvSpPr>
          <p:cNvPr id="6" name="text-902-210">
            <a:extLst xmlns:a="http://schemas.openxmlformats.org/drawingml/2006/main">
              <a:ext uri="{FF2B5EF4-FFF2-40B4-BE49-F238E27FC236}">
                <a16:creationId xmlns:a16="http://schemas.microsoft.com/office/drawing/2014/main" id="{080CEB7D-A4DE-4C07-99A8-8F6F800C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49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1.06%</a:t>
            </a:r>
          </a:p>
        </p:txBody>
      </p:sp>
      <p:sp>
        <p:nvSpPr>
          <p:cNvPr id="7" name="text-902-258">
            <a:extLst xmlns:a="http://schemas.openxmlformats.org/drawingml/2006/main">
              <a:ext uri="{FF2B5EF4-FFF2-40B4-BE49-F238E27FC236}">
                <a16:creationId xmlns:a16="http://schemas.microsoft.com/office/drawing/2014/main" id="{0D1626F3-55AE-4E27-AC1E-6E0ADF9A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mean total-mass error</a:t>
            </a:r>
          </a:p>
        </p:txBody>
      </p:sp>
      <p:sp>
        <p:nvSpPr>
          <p:cNvPr id="8" name="text-902-284">
            <a:extLst xmlns:a="http://schemas.openxmlformats.org/drawingml/2006/main">
              <a:ext uri="{FF2B5EF4-FFF2-40B4-BE49-F238E27FC236}">
                <a16:creationId xmlns:a16="http://schemas.microsoft.com/office/drawing/2014/main" id="{AFFD387E-2C18-4E89-994A-23C1E651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051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clean 2–8 kg trials</a:t>
            </a:r>
          </a:p>
        </p:txBody>
      </p:sp>
      <p:sp>
        <p:nvSpPr>
          <p:cNvPr id="9" name="text-884-352">
            <a:extLst xmlns:a="http://schemas.openxmlformats.org/drawingml/2006/main">
              <a:ext uri="{FF2B5EF4-FFF2-40B4-BE49-F238E27FC236}">
                <a16:creationId xmlns:a16="http://schemas.microsoft.com/office/drawing/2014/main" id="{918A8760-72BE-41A0-982E-EA553467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Why payload error looks larger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E455C-9711-4E66-A672-B9F7047C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1" name="text-904-398">
            <a:extLst xmlns:a="http://schemas.openxmlformats.org/drawingml/2006/main">
              <a:ext uri="{FF2B5EF4-FFF2-40B4-BE49-F238E27FC236}">
                <a16:creationId xmlns:a16="http://schemas.microsoft.com/office/drawing/2014/main" id="{CD48A7F8-698F-4615-AE0C-4B778080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Payload is the residual after subtracting an 18.75 kg tare mass.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11BDC-ED89-4216-82B2-2A94B41C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3" name="text-904-476">
            <a:extLst xmlns:a="http://schemas.openxmlformats.org/drawingml/2006/main">
              <a:ext uri="{FF2B5EF4-FFF2-40B4-BE49-F238E27FC236}">
                <a16:creationId xmlns:a16="http://schemas.microsoft.com/office/drawing/2014/main" id="{5EF1E511-E472-4D77-B9E4-923FFBF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339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A small supported-mass error becomes a large percentage of a 2–4 kg payload.</a:t>
            </a:r>
          </a:p>
        </p:txBody>
      </p:sp>
      <p:sp>
        <p:nvSpPr>
          <p:cNvPr id="14" name="text-884-562">
            <a:extLst xmlns:a="http://schemas.openxmlformats.org/drawingml/2006/main">
              <a:ext uri="{FF2B5EF4-FFF2-40B4-BE49-F238E27FC236}">
                <a16:creationId xmlns:a16="http://schemas.microsoft.com/office/drawing/2014/main" id="{62A8211F-0BA1-4B67-B364-82D8672D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5305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500"/>
                </a:solidFill>
              </a:defRPr>
            </a:pPr>
            <a:r>
              <a:rPr sz="975" b="1">
                <a:solidFill>
                  <a:srgbClr val="D89500"/>
                </a:solidFill>
              </a:rPr>
              <a:t>* 10 kg flight marked botched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91430-65AF-4F2D-902E-FA787993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16" name="text-72-690">
            <a:extLst xmlns:a="http://schemas.openxmlformats.org/drawingml/2006/main">
              <a:ext uri="{FF2B5EF4-FFF2-40B4-BE49-F238E27FC236}">
                <a16:creationId xmlns:a16="http://schemas.microsoft.com/office/drawing/2014/main" id="{76EB76FA-54EF-4292-880F-C790A417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17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891DB17C-18A5-4A6E-911A-C71B27F0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9654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D3B9571A-0362-45CF-B7A5-51C60ECD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C7C50DE9-404B-4C8B-AEAE-0B1BF96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Loss rose with payload while its share stayed near 10%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4676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b57555a38746b3"/>
          </a:graphicData>
        </a:graphic>
      </p:graphicFrame>
      <p:sp>
        <p:nvSpPr>
          <p:cNvPr id="4" name="box-894-184">
            <a:extLst xmlns:a="http://schemas.openxmlformats.org/drawingml/2006/main">
              <a:ext uri="{FF2B5EF4-FFF2-40B4-BE49-F238E27FC236}">
                <a16:creationId xmlns:a16="http://schemas.microsoft.com/office/drawing/2014/main" id="{7B18FC42-07F8-49E5-AA38-96BC171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24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2C17-AE01-4445-ACE7-B61869D5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F66E8"/>
            </a:solidFill>
            <a:prstDash val="solid"/>
          </a:ln>
        </p:spPr>
      </p:sp>
      <p:sp>
        <p:nvSpPr>
          <p:cNvPr id="6" name="text-912-206">
            <a:extLst xmlns:a="http://schemas.openxmlformats.org/drawingml/2006/main">
              <a:ext uri="{FF2B5EF4-FFF2-40B4-BE49-F238E27FC236}">
                <a16:creationId xmlns:a16="http://schemas.microsoft.com/office/drawing/2014/main" id="{F2C6B873-799C-43B4-9173-06E335BD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316 → 665 W</a:t>
            </a:r>
          </a:p>
        </p:txBody>
      </p:sp>
      <p:sp>
        <p:nvSpPr>
          <p:cNvPr id="7" name="text-912-254">
            <a:extLst xmlns:a="http://schemas.openxmlformats.org/drawingml/2006/main">
              <a:ext uri="{FF2B5EF4-FFF2-40B4-BE49-F238E27FC236}">
                <a16:creationId xmlns:a16="http://schemas.microsoft.com/office/drawing/2014/main" id="{D49C33B2-B8ED-4A63-9D43-8111BD17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19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corrected input / motor</a:t>
            </a:r>
          </a:p>
        </p:txBody>
      </p:sp>
      <p:sp>
        <p:nvSpPr>
          <p:cNvPr id="8" name="box-894-332">
            <a:extLst xmlns:a="http://schemas.openxmlformats.org/drawingml/2006/main">
              <a:ext uri="{FF2B5EF4-FFF2-40B4-BE49-F238E27FC236}">
                <a16:creationId xmlns:a16="http://schemas.microsoft.com/office/drawing/2014/main" id="{5BC3BDC3-93C3-4709-A015-99356F64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724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AD15A-B850-42B3-9328-FF84A8A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59A8C"/>
            </a:solidFill>
            <a:prstDash val="solid"/>
          </a:ln>
        </p:spPr>
      </p:sp>
      <p:sp>
        <p:nvSpPr>
          <p:cNvPr id="10" name="text-912-354">
            <a:extLst xmlns:a="http://schemas.openxmlformats.org/drawingml/2006/main">
              <a:ext uri="{FF2B5EF4-FFF2-40B4-BE49-F238E27FC236}">
                <a16:creationId xmlns:a16="http://schemas.microsoft.com/office/drawing/2014/main" id="{B85D9D0D-0B27-4DEA-AF3C-9C8400DD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34.6 → 64.9 W</a:t>
            </a:r>
          </a:p>
        </p:txBody>
      </p:sp>
      <p:sp>
        <p:nvSpPr>
          <p:cNvPr id="11" name="text-912-402">
            <a:extLst xmlns:a="http://schemas.openxmlformats.org/drawingml/2006/main">
              <a:ext uri="{FF2B5EF4-FFF2-40B4-BE49-F238E27FC236}">
                <a16:creationId xmlns:a16="http://schemas.microsoft.com/office/drawing/2014/main" id="{3985CA16-5E33-4631-B2CD-F243ED8F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modelled loss / motor</a:t>
            </a:r>
          </a:p>
        </p:txBody>
      </p:sp>
      <p:sp>
        <p:nvSpPr>
          <p:cNvPr id="12" name="box-894-480">
            <a:extLst xmlns:a="http://schemas.openxmlformats.org/drawingml/2006/main">
              <a:ext uri="{FF2B5EF4-FFF2-40B4-BE49-F238E27FC236}">
                <a16:creationId xmlns:a16="http://schemas.microsoft.com/office/drawing/2014/main" id="{97808E96-5CF5-48E5-88F2-26EABB42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72000"/>
            <a:ext cx="2724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D26F3-46BB-47A1-A31A-9CED4C9F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72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635BDF"/>
            </a:solidFill>
            <a:prstDash val="solid"/>
          </a:ln>
        </p:spPr>
      </p:sp>
      <p:sp>
        <p:nvSpPr>
          <p:cNvPr id="14" name="text-912-502">
            <a:extLst xmlns:a="http://schemas.openxmlformats.org/drawingml/2006/main">
              <a:ext uri="{FF2B5EF4-FFF2-40B4-BE49-F238E27FC236}">
                <a16:creationId xmlns:a16="http://schemas.microsoft.com/office/drawing/2014/main" id="{37EDDF26-E2AD-4F22-A4EE-C85AD0AA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815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9.75–10.93%</a:t>
            </a:r>
          </a:p>
        </p:txBody>
      </p:sp>
      <p:sp>
        <p:nvSpPr>
          <p:cNvPr id="15" name="text-912-550">
            <a:extLst xmlns:a="http://schemas.openxmlformats.org/drawingml/2006/main">
              <a:ext uri="{FF2B5EF4-FFF2-40B4-BE49-F238E27FC236}">
                <a16:creationId xmlns:a16="http://schemas.microsoft.com/office/drawing/2014/main" id="{22BA50E0-ADE4-4467-8FD5-3A4FA697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38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loss fraction</a:t>
            </a:r>
          </a:p>
        </p:txBody>
      </p:sp>
      <p:sp>
        <p:nvSpPr>
          <p:cNvPr id="16" name="text-912-576">
            <a:extLst xmlns:a="http://schemas.openxmlformats.org/drawingml/2006/main">
              <a:ext uri="{FF2B5EF4-FFF2-40B4-BE49-F238E27FC236}">
                <a16:creationId xmlns:a16="http://schemas.microsoft.com/office/drawing/2014/main" id="{16C548CC-406A-4230-87FB-EDBBD8CA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86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absolute loss nearly doubled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B579C-A0CD-422A-9964-6EEBF209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18" name="text-72-690">
            <a:extLst xmlns:a="http://schemas.openxmlformats.org/drawingml/2006/main">
              <a:ext uri="{FF2B5EF4-FFF2-40B4-BE49-F238E27FC236}">
                <a16:creationId xmlns:a16="http://schemas.microsoft.com/office/drawing/2014/main" id="{C77F44B3-CDD7-4883-8701-48A8F23C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19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D56BF3C4-042E-4F0E-8097-D1C7FFFD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99413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82DF0438-E57A-4195-A5F7-C6714D98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EEF2BF87-6B66-472D-8726-2651483D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Remaining errors prevent a universal sub-5% claim</a:t>
            </a:r>
          </a:p>
        </p:txBody>
      </p:sp>
      <p:sp>
        <p:nvSpPr>
          <p:cNvPr id="3" name="box-72-166">
            <a:extLst xmlns:a="http://schemas.openxmlformats.org/drawingml/2006/main">
              <a:ext uri="{FF2B5EF4-FFF2-40B4-BE49-F238E27FC236}">
                <a16:creationId xmlns:a16="http://schemas.microsoft.com/office/drawing/2014/main" id="{F5FE4831-938D-49A8-B8C6-8B8B85EE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6E8"/>
            </a:solidFill>
            <a:prstDash val="solid"/>
          </a:ln>
        </p:spPr>
      </p:sp>
      <p:sp>
        <p:nvSpPr>
          <p:cNvPr id="4" name="text-102-196">
            <a:extLst xmlns:a="http://schemas.openxmlformats.org/drawingml/2006/main">
              <a:ext uri="{FF2B5EF4-FFF2-40B4-BE49-F238E27FC236}">
                <a16:creationId xmlns:a16="http://schemas.microsoft.com/office/drawing/2014/main" id="{3AEDA6B9-839F-4314-A4C4-CE40FB3B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24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The estimator already recovers total supported mass accurately; payload error is amplified by tare subtraction and limited repeatability.</a:t>
            </a:r>
          </a:p>
        </p:txBody>
      </p:sp>
      <p:sp>
        <p:nvSpPr>
          <p:cNvPr id="5" name="text-72-306">
            <a:extLst xmlns:a="http://schemas.openxmlformats.org/drawingml/2006/main">
              <a:ext uri="{FF2B5EF4-FFF2-40B4-BE49-F238E27FC236}">
                <a16:creationId xmlns:a16="http://schemas.microsoft.com/office/drawing/2014/main" id="{BF764668-565E-4268-A974-65923F5E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Tare sensitivity</a:t>
            </a:r>
          </a:p>
        </p:txBody>
      </p:sp>
      <p:sp>
        <p:nvSpPr>
          <p:cNvPr id="6" name="text-72-346">
            <a:extLst xmlns:a="http://schemas.openxmlformats.org/drawingml/2006/main">
              <a:ext uri="{FF2B5EF4-FFF2-40B4-BE49-F238E27FC236}">
                <a16:creationId xmlns:a16="http://schemas.microsoft.com/office/drawing/2014/main" id="{8F726C1A-374E-4510-98FB-60478AC9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18.75 kg is configuration-corrected, but still needs direct calibrated-scale measurement.</a:t>
            </a:r>
          </a:p>
        </p:txBody>
      </p:sp>
      <p:sp>
        <p:nvSpPr>
          <p:cNvPr id="7" name="text-652-306">
            <a:extLst xmlns:a="http://schemas.openxmlformats.org/drawingml/2006/main">
              <a:ext uri="{FF2B5EF4-FFF2-40B4-BE49-F238E27FC236}">
                <a16:creationId xmlns:a16="http://schemas.microsoft.com/office/drawing/2014/main" id="{D6DE32D0-5B90-459E-80D9-FD4B8702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14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Zero-load diagnostic</a:t>
            </a:r>
          </a:p>
        </p:txBody>
      </p:sp>
      <p:sp>
        <p:nvSpPr>
          <p:cNvPr id="8" name="text-652-346">
            <a:extLst xmlns:a="http://schemas.openxmlformats.org/drawingml/2006/main">
              <a:ext uri="{FF2B5EF4-FFF2-40B4-BE49-F238E27FC236}">
                <a16:creationId xmlns:a16="http://schemas.microsoft.com/office/drawing/2014/main" id="{5FAD23D5-BB24-4335-A154-1C225E2E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−0.944 kg indicates sensitivity to baseline selection and low-load coefficient transfer.</a:t>
            </a:r>
          </a:p>
        </p:txBody>
      </p:sp>
      <p:sp>
        <p:nvSpPr>
          <p:cNvPr id="9" name="text-72-472">
            <a:extLst xmlns:a="http://schemas.openxmlformats.org/drawingml/2006/main">
              <a:ext uri="{FF2B5EF4-FFF2-40B4-BE49-F238E27FC236}">
                <a16:creationId xmlns:a16="http://schemas.microsoft.com/office/drawing/2014/main" id="{6B7F9D07-3EB1-465C-890D-AA6F50C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9500"/>
                </a:solidFill>
              </a:defRPr>
            </a:pPr>
            <a:r>
              <a:rPr sz="1650" b="1">
                <a:solidFill>
                  <a:srgbClr val="D89500"/>
                </a:solidFill>
              </a:rPr>
              <a:t>4 kg outlier</a:t>
            </a:r>
          </a:p>
        </p:txBody>
      </p:sp>
      <p:sp>
        <p:nvSpPr>
          <p:cNvPr id="10" name="text-72-512">
            <a:extLst xmlns:a="http://schemas.openxmlformats.org/drawingml/2006/main">
              <a:ext uri="{FF2B5EF4-FFF2-40B4-BE49-F238E27FC236}">
                <a16:creationId xmlns:a16="http://schemas.microsoft.com/office/drawing/2014/main" id="{4AE99D9C-1A6F-4B6B-8D18-F4D15C1A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12.92% APE cannot be attributed confidently from a single flight.</a:t>
            </a:r>
          </a:p>
        </p:txBody>
      </p:sp>
      <p:sp>
        <p:nvSpPr>
          <p:cNvPr id="11" name="text-652-472">
            <a:extLst xmlns:a="http://schemas.openxmlformats.org/drawingml/2006/main">
              <a:ext uri="{FF2B5EF4-FFF2-40B4-BE49-F238E27FC236}">
                <a16:creationId xmlns:a16="http://schemas.microsoft.com/office/drawing/2014/main" id="{5598BCB8-381B-4F44-92B4-844FF6D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Validation depth</a:t>
            </a:r>
          </a:p>
        </p:txBody>
      </p:sp>
      <p:sp>
        <p:nvSpPr>
          <p:cNvPr id="12" name="text-652-512">
            <a:extLst xmlns:a="http://schemas.openxmlformats.org/drawingml/2006/main">
              <a:ext uri="{FF2B5EF4-FFF2-40B4-BE49-F238E27FC236}">
                <a16:creationId xmlns:a16="http://schemas.microsoft.com/office/drawing/2014/main" id="{487966CA-758F-4878-A934-97B4B1F2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768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One run per payload; no confidence intervals or day-to-day repeatability yet.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B4B3F-9952-445E-ABAB-6EF5386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14" name="text-72-690">
            <a:extLst xmlns:a="http://schemas.openxmlformats.org/drawingml/2006/main">
              <a:ext uri="{FF2B5EF4-FFF2-40B4-BE49-F238E27FC236}">
                <a16:creationId xmlns:a16="http://schemas.microsoft.com/office/drawing/2014/main" id="{7FDE4A3F-7DF2-4063-956D-5D9C897D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15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AD1A467F-7A5A-4B76-B407-9D340115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64986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51823FE7-5FD9-4230-B935-798E0582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9943D645-5410-4421-8F5E-7EE57222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internship delivered an auditable engineering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4466D-4DC4-4882-9C90-2DF9EBD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66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57BE8-D390-4BB3-BB44-2229C76A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90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5" name="text-135-217">
            <a:extLst xmlns:a="http://schemas.openxmlformats.org/drawingml/2006/main">
              <a:ext uri="{FF2B5EF4-FFF2-40B4-BE49-F238E27FC236}">
                <a16:creationId xmlns:a16="http://schemas.microsoft.com/office/drawing/2014/main" id="{4778463A-6126-45D2-8998-093C805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669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-204-194">
            <a:extLst xmlns:a="http://schemas.openxmlformats.org/drawingml/2006/main">
              <a:ext uri="{FF2B5EF4-FFF2-40B4-BE49-F238E27FC236}">
                <a16:creationId xmlns:a16="http://schemas.microsoft.com/office/drawing/2014/main" id="{32927429-89BA-4543-AC1C-F8F2F6C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478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Physics-informed model</a:t>
            </a:r>
          </a:p>
        </p:txBody>
      </p:sp>
      <p:sp>
        <p:nvSpPr>
          <p:cNvPr id="7" name="text-204-232">
            <a:extLst xmlns:a="http://schemas.openxmlformats.org/drawingml/2006/main">
              <a:ext uri="{FF2B5EF4-FFF2-40B4-BE49-F238E27FC236}">
                <a16:creationId xmlns:a16="http://schemas.microsoft.com/office/drawing/2014/main" id="{9E9E2C31-18DA-4539-8F9D-039FCD0D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09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Actuator-disk inversion, air-density correction, blockage and fitted losses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44221-5EC7-442F-BEFD-95B4A65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9" name="text-135-337">
            <a:extLst xmlns:a="http://schemas.openxmlformats.org/drawingml/2006/main">
              <a:ext uri="{FF2B5EF4-FFF2-40B4-BE49-F238E27FC236}">
                <a16:creationId xmlns:a16="http://schemas.microsoft.com/office/drawing/2014/main" id="{CD0BB526-6294-431A-97EF-227A00CD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099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-204-314">
            <a:extLst xmlns:a="http://schemas.openxmlformats.org/drawingml/2006/main">
              <a:ext uri="{FF2B5EF4-FFF2-40B4-BE49-F238E27FC236}">
                <a16:creationId xmlns:a16="http://schemas.microsoft.com/office/drawing/2014/main" id="{ED0A05CC-200C-4A0E-A3E3-63F0A08F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908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Automated software pipeline</a:t>
            </a:r>
          </a:p>
        </p:txBody>
      </p:sp>
      <p:sp>
        <p:nvSpPr>
          <p:cNvPr id="11" name="text-204-352">
            <a:extLst xmlns:a="http://schemas.openxmlformats.org/drawingml/2006/main">
              <a:ext uri="{FF2B5EF4-FFF2-40B4-BE49-F238E27FC236}">
                <a16:creationId xmlns:a16="http://schemas.microsoft.com/office/drawing/2014/main" id="{7CF73303-106B-43AD-B8AE-3054C654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52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BIN parsing, timestamp alignment, hover selection, baseline correction and 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CB9E9-9274-48A6-9F2B-1EB4DF58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76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3" name="text-135-457">
            <a:extLst xmlns:a="http://schemas.openxmlformats.org/drawingml/2006/main">
              <a:ext uri="{FF2B5EF4-FFF2-40B4-BE49-F238E27FC236}">
                <a16:creationId xmlns:a16="http://schemas.microsoft.com/office/drawing/2014/main" id="{AE9799F0-A70B-4073-9883-72A74BD9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29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-204-434">
            <a:extLst xmlns:a="http://schemas.openxmlformats.org/drawingml/2006/main">
              <a:ext uri="{FF2B5EF4-FFF2-40B4-BE49-F238E27FC236}">
                <a16:creationId xmlns:a16="http://schemas.microsoft.com/office/drawing/2014/main" id="{038414F2-B020-42AD-80DD-A08EE009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338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Field-validation evidence</a:t>
            </a:r>
          </a:p>
        </p:txBody>
      </p:sp>
      <p:sp>
        <p:nvSpPr>
          <p:cNvPr id="15" name="text-204-472">
            <a:extLst xmlns:a="http://schemas.openxmlformats.org/drawingml/2006/main">
              <a:ext uri="{FF2B5EF4-FFF2-40B4-BE49-F238E27FC236}">
                <a16:creationId xmlns:a16="http://schemas.microsoft.com/office/drawing/2014/main" id="{19893CD6-458C-415B-B2F5-19EB409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95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Six payload configurations, aligned CSV outputs, charts and error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D179B-D05B-4C0D-987B-DFD5C422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19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17" name="text-135-577">
            <a:extLst xmlns:a="http://schemas.openxmlformats.org/drawingml/2006/main">
              <a:ext uri="{FF2B5EF4-FFF2-40B4-BE49-F238E27FC236}">
                <a16:creationId xmlns:a16="http://schemas.microsoft.com/office/drawing/2014/main" id="{52D0294A-9D7D-40A5-89CE-79AEA06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959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-204-554">
            <a:extLst xmlns:a="http://schemas.openxmlformats.org/drawingml/2006/main">
              <a:ext uri="{FF2B5EF4-FFF2-40B4-BE49-F238E27FC236}">
                <a16:creationId xmlns:a16="http://schemas.microsoft.com/office/drawing/2014/main" id="{2D0AD8F5-8979-4263-B64B-64832CCC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768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Engineering documentation</a:t>
            </a:r>
          </a:p>
        </p:txBody>
      </p:sp>
      <p:sp>
        <p:nvSpPr>
          <p:cNvPr id="19" name="text-204-592">
            <a:extLst xmlns:a="http://schemas.openxmlformats.org/drawingml/2006/main">
              <a:ext uri="{FF2B5EF4-FFF2-40B4-BE49-F238E27FC236}">
                <a16:creationId xmlns:a16="http://schemas.microsoft.com/office/drawing/2014/main" id="{52C07C45-5CB5-4266-8998-1B9DE93A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Parameter rationale, bug-fix history, code traceability, limitations and roadmap</a:t>
            </a:r>
          </a:p>
        </p:txBody>
      </p:sp>
      <p:sp>
        <p:nvSpPr>
          <p:cNvPr id="20" name="box-948-194">
            <a:extLst xmlns:a="http://schemas.openxmlformats.org/drawingml/2006/main">
              <a:ext uri="{FF2B5EF4-FFF2-40B4-BE49-F238E27FC236}">
                <a16:creationId xmlns:a16="http://schemas.microsoft.com/office/drawing/2014/main" id="{4EFA298C-7AA9-4B0B-B812-2A9AEF33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47850"/>
            <a:ext cx="2362200" cy="34861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1" name="text-970-220">
            <a:extLst xmlns:a="http://schemas.openxmlformats.org/drawingml/2006/main">
              <a:ext uri="{FF2B5EF4-FFF2-40B4-BE49-F238E27FC236}">
                <a16:creationId xmlns:a16="http://schemas.microsoft.com/office/drawing/2014/main" id="{A74160A4-165A-4123-8CB9-6E61E0ED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Key fixes closed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1AA40-08D3-4C1E-9134-98F4BA4F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71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3" name="text-972-268">
            <a:extLst xmlns:a="http://schemas.openxmlformats.org/drawingml/2006/main">
              <a:ext uri="{FF2B5EF4-FFF2-40B4-BE49-F238E27FC236}">
                <a16:creationId xmlns:a16="http://schemas.microsoft.com/office/drawing/2014/main" id="{C68022B8-4B18-4C06-BAD8-EF650DA2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-1002-266">
            <a:extLst xmlns:a="http://schemas.openxmlformats.org/drawingml/2006/main">
              <a:ext uri="{FF2B5EF4-FFF2-40B4-BE49-F238E27FC236}">
                <a16:creationId xmlns:a16="http://schemas.microsoft.com/office/drawing/2014/main" id="{108099B8-EC88-48F7-89EF-199630E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4054"/>
                </a:solidFill>
              </a:defRPr>
            </a:pPr>
            <a:r>
              <a:rPr sz="1125" b="1">
                <a:solidFill>
                  <a:srgbClr val="344054"/>
                </a:solidFill>
              </a:rPr>
              <a:t>Incorrect extraction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E3C24-68F4-4BF4-B97C-176FE34C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90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6" name="text-972-312">
            <a:extLst xmlns:a="http://schemas.openxmlformats.org/drawingml/2006/main">
              <a:ext uri="{FF2B5EF4-FFF2-40B4-BE49-F238E27FC236}">
                <a16:creationId xmlns:a16="http://schemas.microsoft.com/office/drawing/2014/main" id="{4F439955-0275-43E1-BF52-C615D025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-1002-310">
            <a:extLst xmlns:a="http://schemas.openxmlformats.org/drawingml/2006/main">
              <a:ext uri="{FF2B5EF4-FFF2-40B4-BE49-F238E27FC236}">
                <a16:creationId xmlns:a16="http://schemas.microsoft.com/office/drawing/2014/main" id="{CE03736F-EB67-422C-90E3-7FF1C416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527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4054"/>
                </a:solidFill>
              </a:defRPr>
            </a:pPr>
            <a:r>
              <a:rPr sz="1125" b="1">
                <a:solidFill>
                  <a:srgbClr val="344054"/>
                </a:solidFill>
              </a:rPr>
              <a:t>Noisy altitude 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E04D5F-7CB6-4100-ADC5-43110EA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9" name="text-972-356">
            <a:extLst xmlns:a="http://schemas.openxmlformats.org/drawingml/2006/main">
              <a:ext uri="{FF2B5EF4-FFF2-40B4-BE49-F238E27FC236}">
                <a16:creationId xmlns:a16="http://schemas.microsoft.com/office/drawing/2014/main" id="{CA46529E-059E-4067-A16D-0BFD4F71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-1002-354">
            <a:extLst xmlns:a="http://schemas.openxmlformats.org/drawingml/2006/main">
              <a:ext uri="{FF2B5EF4-FFF2-40B4-BE49-F238E27FC236}">
                <a16:creationId xmlns:a16="http://schemas.microsoft.com/office/drawing/2014/main" id="{F12E1725-FC7E-4E87-A34B-649527E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71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4054"/>
                </a:solidFill>
              </a:defRPr>
            </a:pPr>
            <a:r>
              <a:rPr sz="1125" b="1">
                <a:solidFill>
                  <a:srgbClr val="344054"/>
                </a:solidFill>
              </a:rPr>
              <a:t>Wrong tare mass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EB7C5-53CB-4C53-B5B5-36119D0D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32" name="text-972-400">
            <a:extLst xmlns:a="http://schemas.openxmlformats.org/drawingml/2006/main">
              <a:ext uri="{FF2B5EF4-FFF2-40B4-BE49-F238E27FC236}">
                <a16:creationId xmlns:a16="http://schemas.microsoft.com/office/drawing/2014/main" id="{69BE08A2-6A33-44E7-A45A-83DE52C4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-1002-398">
            <a:extLst xmlns:a="http://schemas.openxmlformats.org/drawingml/2006/main">
              <a:ext uri="{FF2B5EF4-FFF2-40B4-BE49-F238E27FC236}">
                <a16:creationId xmlns:a16="http://schemas.microsoft.com/office/drawing/2014/main" id="{9C299E39-70E5-4B5F-90F2-6274631E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909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4054"/>
                </a:solidFill>
              </a:defRPr>
            </a:pPr>
            <a:r>
              <a:rPr sz="1125" b="1">
                <a:solidFill>
                  <a:srgbClr val="344054"/>
                </a:solidFill>
              </a:rPr>
              <a:t>Unremoved baseline power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4AA003-62AE-451B-AA92-D2BECA4B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48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35" name="text-972-444">
            <a:extLst xmlns:a="http://schemas.openxmlformats.org/drawingml/2006/main">
              <a:ext uri="{FF2B5EF4-FFF2-40B4-BE49-F238E27FC236}">
                <a16:creationId xmlns:a16="http://schemas.microsoft.com/office/drawing/2014/main" id="{772C2DED-0FB1-4FC5-9F97-8F739782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-1002-442">
            <a:extLst xmlns:a="http://schemas.openxmlformats.org/drawingml/2006/main">
              <a:ext uri="{FF2B5EF4-FFF2-40B4-BE49-F238E27FC236}">
                <a16:creationId xmlns:a16="http://schemas.microsoft.com/office/drawing/2014/main" id="{AB0F8540-86D1-4503-A5B8-A5D87600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100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4054"/>
                </a:solidFill>
              </a:defRPr>
            </a:pPr>
            <a:r>
              <a:rPr sz="1125" b="1">
                <a:solidFill>
                  <a:srgbClr val="344054"/>
                </a:solidFill>
              </a:rPr>
              <a:t>Collinear loss terms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757602-25BD-4490-B66C-44A7729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67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38" name="text-972-488">
            <a:extLst xmlns:a="http://schemas.openxmlformats.org/drawingml/2006/main">
              <a:ext uri="{FF2B5EF4-FFF2-40B4-BE49-F238E27FC236}">
                <a16:creationId xmlns:a16="http://schemas.microsoft.com/office/drawing/2014/main" id="{2A56F099-FE15-4B25-82E0-DEC2CA53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482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ext-1002-486">
            <a:extLst xmlns:a="http://schemas.openxmlformats.org/drawingml/2006/main">
              <a:ext uri="{FF2B5EF4-FFF2-40B4-BE49-F238E27FC236}">
                <a16:creationId xmlns:a16="http://schemas.microsoft.com/office/drawing/2014/main" id="{FF6F3C0D-E9EE-414D-A874-E4413889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291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4054"/>
                </a:solidFill>
              </a:defRPr>
            </a:pPr>
            <a:r>
              <a:rPr sz="1125" b="1">
                <a:solidFill>
                  <a:srgbClr val="344054"/>
                </a:solidFill>
              </a:rPr>
              <a:t>Non-positive power guard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37E28A-D300-4EC5-BAA8-56C6C3E6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41" name="text-72-690">
            <a:extLst xmlns:a="http://schemas.openxmlformats.org/drawingml/2006/main">
              <a:ext uri="{FF2B5EF4-FFF2-40B4-BE49-F238E27FC236}">
                <a16:creationId xmlns:a16="http://schemas.microsoft.com/office/drawing/2014/main" id="{A4983942-5B73-46CA-8BED-0650999E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42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609CE693-CB28-4BF3-BD8B-D5DD7ED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72131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72-34">
            <a:extLst xmlns:a="http://schemas.openxmlformats.org/drawingml/2006/main">
              <a:ext uri="{FF2B5EF4-FFF2-40B4-BE49-F238E27FC236}">
                <a16:creationId xmlns:a16="http://schemas.microsoft.com/office/drawing/2014/main" id="{B502C5F6-EE9F-44D5-9268-08705919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E8"/>
                </a:solidFill>
              </a:defRPr>
            </a:pPr>
            <a:r>
              <a:rPr sz="975" b="1">
                <a:solidFill>
                  <a:srgbClr val="2F66E8"/>
                </a:solidFill>
              </a:rPr>
              <a:t>PAYLOAD WEIGHT ESTIMATION  |  FINAL INTERNSHIP REVIEW</a:t>
            </a:r>
          </a:p>
        </p:txBody>
      </p:sp>
      <p:sp>
        <p:nvSpPr>
          <p:cNvPr id="2" name="text-72-72">
            <a:extLst xmlns:a="http://schemas.openxmlformats.org/drawingml/2006/main">
              <a:ext uri="{FF2B5EF4-FFF2-40B4-BE49-F238E27FC236}">
                <a16:creationId xmlns:a16="http://schemas.microsoft.com/office/drawing/2014/main" id="{CF047554-D676-49B3-90F8-F29C255E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Sub-5% needs better measurement—not more coefficients</a:t>
            </a:r>
          </a:p>
        </p:txBody>
      </p:sp>
      <p:sp>
        <p:nvSpPr>
          <p:cNvPr id="3" name="box-72-182">
            <a:extLst xmlns:a="http://schemas.openxmlformats.org/drawingml/2006/main">
              <a:ext uri="{FF2B5EF4-FFF2-40B4-BE49-F238E27FC236}">
                <a16:creationId xmlns:a16="http://schemas.microsoft.com/office/drawing/2014/main" id="{AE1F89CB-3AE1-496A-A8AB-58751AC3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004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6E8"/>
            </a:solidFill>
            <a:prstDash val="solid"/>
          </a:ln>
        </p:spPr>
      </p:sp>
      <p:sp>
        <p:nvSpPr>
          <p:cNvPr id="4" name="text-96-208">
            <a:extLst xmlns:a="http://schemas.openxmlformats.org/drawingml/2006/main">
              <a:ext uri="{FF2B5EF4-FFF2-40B4-BE49-F238E27FC236}">
                <a16:creationId xmlns:a16="http://schemas.microsoft.com/office/drawing/2014/main" id="{A64BF7EE-82D0-449A-983F-15D986F2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6E8"/>
                </a:solidFill>
              </a:defRPr>
            </a:pPr>
            <a:r>
              <a:rPr sz="1200" b="1">
                <a:solidFill>
                  <a:srgbClr val="2F66E8"/>
                </a:solidFill>
              </a:rPr>
              <a:t>1  CALIBRATE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0ADE2-6857-4DAA-9C5B-2A90B6D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6" name="text-116-260">
            <a:extLst xmlns:a="http://schemas.openxmlformats.org/drawingml/2006/main">
              <a:ext uri="{FF2B5EF4-FFF2-40B4-BE49-F238E27FC236}">
                <a16:creationId xmlns:a16="http://schemas.microsoft.com/office/drawing/2014/main" id="{AE79940D-A099-454B-998B-89A0F6F6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Directly weigh the complete 18.75 kg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AAA48-E59D-41F2-880A-BE9B7A09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8" name="text-116-332">
            <a:extLst xmlns:a="http://schemas.openxmlformats.org/drawingml/2006/main">
              <a:ext uri="{FF2B5EF4-FFF2-40B4-BE49-F238E27FC236}">
                <a16:creationId xmlns:a16="http://schemas.microsoft.com/office/drawing/2014/main" id="{9C094121-9A72-4391-B189-A813EDB2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Characterise electronics baseline versus battery voltage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7EB4A-379D-43C9-950E-5F39D338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10" name="text-116-404">
            <a:extLst xmlns:a="http://schemas.openxmlformats.org/drawingml/2006/main">
              <a:ext uri="{FF2B5EF4-FFF2-40B4-BE49-F238E27FC236}">
                <a16:creationId xmlns:a16="http://schemas.microsoft.com/office/drawing/2014/main" id="{68811C9A-112B-4CB2-A5F9-500EB7C6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Repeat 0–10 kg tests ≥3 times in random order</a:t>
            </a:r>
          </a:p>
        </p:txBody>
      </p:sp>
      <p:sp>
        <p:nvSpPr>
          <p:cNvPr id="11" name="box-452-182">
            <a:extLst xmlns:a="http://schemas.openxmlformats.org/drawingml/2006/main">
              <a:ext uri="{FF2B5EF4-FFF2-40B4-BE49-F238E27FC236}">
                <a16:creationId xmlns:a16="http://schemas.microsoft.com/office/drawing/2014/main" id="{9078DD78-8687-4B0F-B0E2-73431054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2004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12" name="text-476-208">
            <a:extLst xmlns:a="http://schemas.openxmlformats.org/drawingml/2006/main">
              <a:ext uri="{FF2B5EF4-FFF2-40B4-BE49-F238E27FC236}">
                <a16:creationId xmlns:a16="http://schemas.microsoft.com/office/drawing/2014/main" id="{858FBBCD-3511-4205-9BB8-52CFBB2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35BDF"/>
                </a:solidFill>
              </a:defRPr>
            </a:pPr>
            <a:r>
              <a:rPr sz="1200" b="1">
                <a:solidFill>
                  <a:srgbClr val="635BDF"/>
                </a:solidFill>
              </a:rPr>
              <a:t>2 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C3D1E-68B1-4260-9F8A-A67300E7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DF"/>
          </a:solidFill>
          <a:ln xmlns:a="http://schemas.openxmlformats.org/drawingml/2006/main" w="0">
            <a:solidFill>
              <a:srgbClr val="635BDF"/>
            </a:solidFill>
            <a:prstDash val="solid"/>
          </a:ln>
        </p:spPr>
      </p:sp>
      <p:sp>
        <p:nvSpPr>
          <p:cNvPr id="14" name="text-496-260">
            <a:extLst xmlns:a="http://schemas.openxmlformats.org/drawingml/2006/main">
              <a:ext uri="{FF2B5EF4-FFF2-40B4-BE49-F238E27FC236}">
                <a16:creationId xmlns:a16="http://schemas.microsoft.com/office/drawing/2014/main" id="{785DF9F4-C1D8-4E8A-9B4D-804B2E9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Freeze ηₚ and the final model 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6E31D-7F92-4B35-BB6F-826A793B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DF"/>
          </a:solidFill>
          <a:ln xmlns:a="http://schemas.openxmlformats.org/drawingml/2006/main" w="0">
            <a:solidFill>
              <a:srgbClr val="635BDF"/>
            </a:solidFill>
            <a:prstDash val="solid"/>
          </a:ln>
        </p:spPr>
      </p:sp>
      <p:sp>
        <p:nvSpPr>
          <p:cNvPr id="16" name="text-496-332">
            <a:extLst xmlns:a="http://schemas.openxmlformats.org/drawingml/2006/main">
              <a:ext uri="{FF2B5EF4-FFF2-40B4-BE49-F238E27FC236}">
                <a16:creationId xmlns:a16="http://schemas.microsoft.com/office/drawing/2014/main" id="{DB175FC4-4E57-4E4E-9BD7-A17D3AC6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Use held-out flights and different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E23D1-F095-4764-A2C4-F586E5EA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DF"/>
          </a:solidFill>
          <a:ln xmlns:a="http://schemas.openxmlformats.org/drawingml/2006/main" w="0">
            <a:solidFill>
              <a:srgbClr val="635BDF"/>
            </a:solidFill>
            <a:prstDash val="solid"/>
          </a:ln>
        </p:spPr>
      </p:sp>
      <p:sp>
        <p:nvSpPr>
          <p:cNvPr id="18" name="text-496-404">
            <a:extLst xmlns:a="http://schemas.openxmlformats.org/drawingml/2006/main">
              <a:ext uri="{FF2B5EF4-FFF2-40B4-BE49-F238E27FC236}">
                <a16:creationId xmlns:a16="http://schemas.microsoft.com/office/drawing/2014/main" id="{4FC7FDD9-2449-4448-9510-6B2739F5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48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Report bias, repeatability and confidence intervals</a:t>
            </a:r>
          </a:p>
        </p:txBody>
      </p:sp>
      <p:sp>
        <p:nvSpPr>
          <p:cNvPr id="19" name="box-832-182">
            <a:extLst xmlns:a="http://schemas.openxmlformats.org/drawingml/2006/main">
              <a:ext uri="{FF2B5EF4-FFF2-40B4-BE49-F238E27FC236}">
                <a16:creationId xmlns:a16="http://schemas.microsoft.com/office/drawing/2014/main" id="{7A327363-29C9-4C2B-A6FA-759A6DBB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2004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D"/>
            </a:solidFill>
            <a:prstDash val="solid"/>
          </a:ln>
        </p:spPr>
      </p:sp>
      <p:sp>
        <p:nvSpPr>
          <p:cNvPr id="20" name="text-856-208">
            <a:extLst xmlns:a="http://schemas.openxmlformats.org/drawingml/2006/main">
              <a:ext uri="{FF2B5EF4-FFF2-40B4-BE49-F238E27FC236}">
                <a16:creationId xmlns:a16="http://schemas.microsoft.com/office/drawing/2014/main" id="{86052E03-0723-4D1C-8140-F856471A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A8C"/>
                </a:solidFill>
              </a:defRPr>
            </a:pPr>
            <a:r>
              <a:rPr sz="1200" b="1">
                <a:solidFill>
                  <a:srgbClr val="159A8C"/>
                </a:solidFill>
              </a:rPr>
              <a:t>3  DEPLOY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DEDB9-5B68-4599-AA54-E1AF9423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2" name="text-876-260">
            <a:extLst xmlns:a="http://schemas.openxmlformats.org/drawingml/2006/main">
              <a:ext uri="{FF2B5EF4-FFF2-40B4-BE49-F238E27FC236}">
                <a16:creationId xmlns:a16="http://schemas.microsoft.com/office/drawing/2014/main" id="{F826C86E-CF2F-4026-A593-7CC4FAD0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Estimate each rotor separately where telemetry allows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0D7E3-F587-4D92-B6CF-183DEC6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4" name="text-876-332">
            <a:extLst xmlns:a="http://schemas.openxmlformats.org/drawingml/2006/main">
              <a:ext uri="{FF2B5EF4-FFF2-40B4-BE49-F238E27FC236}">
                <a16:creationId xmlns:a16="http://schemas.microsoft.com/office/drawing/2014/main" id="{A0EA28B4-4F9D-49DC-BBD0-3FD824F4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Add temperature and environmental 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F1A74-D500-4C01-BD25-CA98D99D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6" name="text-876-404">
            <a:extLst xmlns:a="http://schemas.openxmlformats.org/drawingml/2006/main">
              <a:ext uri="{FF2B5EF4-FFF2-40B4-BE49-F238E27FC236}">
                <a16:creationId xmlns:a16="http://schemas.microsoft.com/office/drawing/2014/main" id="{7422EBE4-EF1A-4CAC-A0AB-F39BE26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Version coefficients and retain aligned audit outputs</a:t>
            </a:r>
          </a:p>
        </p:txBody>
      </p:sp>
      <p:sp>
        <p:nvSpPr>
          <p:cNvPr id="27" name="box-132-548">
            <a:extLst xmlns:a="http://schemas.openxmlformats.org/drawingml/2006/main">
              <a:ext uri="{FF2B5EF4-FFF2-40B4-BE49-F238E27FC236}">
                <a16:creationId xmlns:a16="http://schemas.microsoft.com/office/drawing/2014/main" id="{08B97367-C6CA-4F9C-AC8A-CE26DCC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677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28" name="text-158-570">
            <a:extLst xmlns:a="http://schemas.openxmlformats.org/drawingml/2006/main">
              <a:ext uri="{FF2B5EF4-FFF2-40B4-BE49-F238E27FC236}">
                <a16:creationId xmlns:a16="http://schemas.microsoft.com/office/drawing/2014/main" id="{D665DD9B-69D6-4DB2-BA8F-5E77B50A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2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A8C"/>
                </a:solidFill>
              </a:defRPr>
            </a:pPr>
            <a:r>
              <a:rPr sz="1275" b="1">
                <a:solidFill>
                  <a:srgbClr val="159A8C"/>
                </a:solidFill>
              </a:rPr>
              <a:t>Final takeaway</a:t>
            </a:r>
          </a:p>
        </p:txBody>
      </p:sp>
      <p:sp>
        <p:nvSpPr>
          <p:cNvPr id="29" name="text-342-562">
            <a:extLst xmlns:a="http://schemas.openxmlformats.org/drawingml/2006/main">
              <a:ext uri="{FF2B5EF4-FFF2-40B4-BE49-F238E27FC236}">
                <a16:creationId xmlns:a16="http://schemas.microsoft.com/office/drawing/2014/main" id="{EF95F24A-172C-4B57-9C08-807C900F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53050"/>
            <a:ext cx="731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 functioning estimator is now demonstrated; repeatable sub-5% payload accuracy is the next validation milestone.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34316-7E03-4325-92EF-EF0E415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E0"/>
            </a:solidFill>
            <a:prstDash val="solid"/>
          </a:ln>
        </p:spPr>
      </p:sp>
      <p:sp>
        <p:nvSpPr>
          <p:cNvPr id="31" name="text-72-690">
            <a:extLst xmlns:a="http://schemas.openxmlformats.org/drawingml/2006/main">
              <a:ext uri="{FF2B5EF4-FFF2-40B4-BE49-F238E27FC236}">
                <a16:creationId xmlns:a16="http://schemas.microsoft.com/office/drawing/2014/main" id="{5AE6C64D-5AE6-4CD9-93D0-0FA6178B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General Aeronautics Pvt. Ltd.  |  GNC Internship</a:t>
            </a:r>
          </a:p>
        </p:txBody>
      </p:sp>
      <p:sp>
        <p:nvSpPr>
          <p:cNvPr id="32" name="text-1138-690">
            <a:extLst xmlns:a="http://schemas.openxmlformats.org/drawingml/2006/main">
              <a:ext uri="{FF2B5EF4-FFF2-40B4-BE49-F238E27FC236}">
                <a16:creationId xmlns:a16="http://schemas.microsoft.com/office/drawing/2014/main" id="{E6BE4DB4-D40D-48D3-9599-26274D91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75907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2026-07-31T11:47:58.4160000Z</dcterms:created>
  <dcterms:modified xsi:type="dcterms:W3CDTF">2026-07-31T11:47:58.4160000Z</dcterms:modified>
</coreProperties>
</file>